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Average"/>
      <p:regular r:id="rId15"/>
    </p:embeddedFont>
    <p:embeddedFont>
      <p:font typeface="Oswald"/>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Average-regular.fntdata"/><Relationship Id="rId14" Type="http://schemas.openxmlformats.org/officeDocument/2006/relationships/slide" Target="slides/slide9.xml"/><Relationship Id="rId17" Type="http://schemas.openxmlformats.org/officeDocument/2006/relationships/font" Target="fonts/Oswald-bold.fntdata"/><Relationship Id="rId16"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f5df961a9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f5df961a9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df5df961a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df5df961a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f5df961a9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df5df961a9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f5df961a9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f5df961a9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f5df961a9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f5df961a9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f5df961a9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df5df961a9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e0d46f8bc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e0d46f8bc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09cf3fe9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e09cf3fe9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F20"/>
        </a:solidFill>
      </p:bgPr>
    </p:bg>
    <p:spTree>
      <p:nvGrpSpPr>
        <p:cNvPr id="58" name="Shape 58"/>
        <p:cNvGrpSpPr/>
        <p:nvPr/>
      </p:nvGrpSpPr>
      <p:grpSpPr>
        <a:xfrm>
          <a:off x="0" y="0"/>
          <a:ext cx="0" cy="0"/>
          <a:chOff x="0" y="0"/>
          <a:chExt cx="0" cy="0"/>
        </a:xfrm>
      </p:grpSpPr>
      <p:sp>
        <p:nvSpPr>
          <p:cNvPr id="59" name="Google Shape;59;p13"/>
          <p:cNvSpPr/>
          <p:nvPr/>
        </p:nvSpPr>
        <p:spPr>
          <a:xfrm>
            <a:off x="124950" y="108300"/>
            <a:ext cx="8894100" cy="4926900"/>
          </a:xfrm>
          <a:prstGeom prst="rect">
            <a:avLst/>
          </a:prstGeom>
          <a:solidFill>
            <a:srgbClr val="0F1F36"/>
          </a:solidFill>
          <a:ln cap="flat" cmpd="sng" w="9650">
            <a:solidFill>
              <a:schemeClr val="dk1"/>
            </a:solidFill>
            <a:prstDash val="solid"/>
            <a:round/>
            <a:headEnd len="sm" w="sm" type="none"/>
            <a:tailEnd len="sm" w="sm" type="none"/>
          </a:ln>
        </p:spPr>
        <p:txBody>
          <a:bodyPr anchorCtr="0" anchor="ctr" bIns="92750" lIns="92750" spcFirstLastPara="1" rIns="92750" wrap="square" tIns="92750">
            <a:noAutofit/>
          </a:bodyPr>
          <a:lstStyle/>
          <a:p>
            <a:pPr indent="0" lvl="0" marL="0" rtl="0" algn="ctr">
              <a:spcBef>
                <a:spcPts val="0"/>
              </a:spcBef>
              <a:spcAft>
                <a:spcPts val="0"/>
              </a:spcAft>
              <a:buNone/>
            </a:pPr>
            <a:r>
              <a:t/>
            </a:r>
            <a:endParaRPr sz="1420">
              <a:latin typeface="Average"/>
              <a:ea typeface="Average"/>
              <a:cs typeface="Average"/>
              <a:sym typeface="Average"/>
            </a:endParaRPr>
          </a:p>
        </p:txBody>
      </p:sp>
      <p:sp>
        <p:nvSpPr>
          <p:cNvPr id="60" name="Google Shape;60;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a:t>
            </a:r>
            <a:r>
              <a:rPr lang="en"/>
              <a:t>Geospatial Architecture Database</a:t>
            </a:r>
            <a:endParaRPr/>
          </a:p>
        </p:txBody>
      </p:sp>
      <p:sp>
        <p:nvSpPr>
          <p:cNvPr id="61" name="Google Shape;61;p13"/>
          <p:cNvSpPr txBox="1"/>
          <p:nvPr>
            <p:ph idx="1" type="subTitle"/>
          </p:nvPr>
        </p:nvSpPr>
        <p:spPr>
          <a:xfrm>
            <a:off x="2245400" y="2656850"/>
            <a:ext cx="4603800" cy="467700"/>
          </a:xfrm>
          <a:prstGeom prst="rect">
            <a:avLst/>
          </a:prstGeom>
        </p:spPr>
        <p:txBody>
          <a:bodyPr anchorCtr="0" anchor="t" bIns="91425" lIns="91425" spcFirstLastPara="1" rIns="91425" wrap="square" tIns="91425">
            <a:normAutofit fontScale="85000"/>
          </a:bodyPr>
          <a:lstStyle/>
          <a:p>
            <a:pPr indent="0" lvl="0" marL="0" rtl="0" algn="ctr">
              <a:spcBef>
                <a:spcPts val="0"/>
              </a:spcBef>
              <a:spcAft>
                <a:spcPts val="0"/>
              </a:spcAft>
              <a:buNone/>
            </a:pPr>
            <a:r>
              <a:rPr lang="en" sz="1600"/>
              <a:t>Group 15: </a:t>
            </a:r>
            <a:r>
              <a:rPr lang="en" sz="1600"/>
              <a:t>Oscar Puente, Brandon Stewart, and Ethan Sklar</a:t>
            </a:r>
            <a:endParaRPr sz="1600"/>
          </a:p>
        </p:txBody>
      </p:sp>
      <p:sp>
        <p:nvSpPr>
          <p:cNvPr id="62" name="Google Shape;62;p1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F20"/>
        </a:solidFill>
      </p:bgPr>
    </p:bg>
    <p:spTree>
      <p:nvGrpSpPr>
        <p:cNvPr id="66" name="Shape 66"/>
        <p:cNvGrpSpPr/>
        <p:nvPr/>
      </p:nvGrpSpPr>
      <p:grpSpPr>
        <a:xfrm>
          <a:off x="0" y="0"/>
          <a:ext cx="0" cy="0"/>
          <a:chOff x="0" y="0"/>
          <a:chExt cx="0" cy="0"/>
        </a:xfrm>
      </p:grpSpPr>
      <p:sp>
        <p:nvSpPr>
          <p:cNvPr id="67" name="Google Shape;67;p14"/>
          <p:cNvSpPr txBox="1"/>
          <p:nvPr>
            <p:ph type="title"/>
          </p:nvPr>
        </p:nvSpPr>
        <p:spPr>
          <a:xfrm>
            <a:off x="330725" y="394200"/>
            <a:ext cx="5345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Overview </a:t>
            </a:r>
            <a:endParaRPr/>
          </a:p>
        </p:txBody>
      </p:sp>
      <p:sp>
        <p:nvSpPr>
          <p:cNvPr id="68" name="Google Shape;68;p14"/>
          <p:cNvSpPr txBox="1"/>
          <p:nvPr>
            <p:ph idx="1" type="body"/>
          </p:nvPr>
        </p:nvSpPr>
        <p:spPr>
          <a:xfrm>
            <a:off x="483900" y="1264588"/>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 sz="2200">
                <a:solidFill>
                  <a:srgbClr val="38BDF8"/>
                </a:solidFill>
                <a:latin typeface="Oswald"/>
                <a:ea typeface="Oswald"/>
                <a:cs typeface="Oswald"/>
                <a:sym typeface="Oswald"/>
              </a:rPr>
              <a:t>Geospatial Architecture Database</a:t>
            </a:r>
            <a:endParaRPr sz="3200">
              <a:solidFill>
                <a:srgbClr val="38BDF8"/>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a:t>
            </a:r>
            <a:r>
              <a:rPr lang="en">
                <a:solidFill>
                  <a:schemeClr val="dk1"/>
                </a:solidFill>
                <a:latin typeface="Oswald"/>
                <a:ea typeface="Oswald"/>
                <a:cs typeface="Oswald"/>
                <a:sym typeface="Oswald"/>
              </a:rPr>
              <a:t> Objective: provide hazard analysis and construction recommendations to help determine an ideal build site using geospatial data to project managers, architecture students and so on.</a:t>
            </a:r>
            <a:endParaRPr>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t/>
            </a:r>
            <a:endParaRPr>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a:t>
            </a:r>
            <a:r>
              <a:rPr lang="en">
                <a:solidFill>
                  <a:schemeClr val="dk1"/>
                </a:solidFill>
                <a:latin typeface="Oswald"/>
                <a:ea typeface="Oswald"/>
                <a:cs typeface="Oswald"/>
                <a:sym typeface="Oswald"/>
              </a:rPr>
              <a:t> Languages: Python, JavaScript, HTML</a:t>
            </a:r>
            <a:endParaRPr>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a:t>
            </a:r>
            <a:r>
              <a:rPr lang="en">
                <a:solidFill>
                  <a:schemeClr val="dk1"/>
                </a:solidFill>
                <a:latin typeface="Oswald"/>
                <a:ea typeface="Oswald"/>
                <a:cs typeface="Oswald"/>
                <a:sym typeface="Oswald"/>
              </a:rPr>
              <a:t> Styling CSS.</a:t>
            </a:r>
            <a:endParaRPr sz="3200">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a:t>
            </a:r>
            <a:r>
              <a:rPr lang="en">
                <a:solidFill>
                  <a:schemeClr val="dk1"/>
                </a:solidFill>
                <a:latin typeface="Oswald"/>
                <a:ea typeface="Oswald"/>
                <a:cs typeface="Oswald"/>
                <a:sym typeface="Oswald"/>
              </a:rPr>
              <a:t> Frameworks/Libraries: Flask</a:t>
            </a:r>
            <a:endParaRPr sz="3200">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a:t>
            </a:r>
            <a:r>
              <a:rPr lang="en">
                <a:solidFill>
                  <a:schemeClr val="dk1"/>
                </a:solidFill>
                <a:latin typeface="Oswald"/>
                <a:ea typeface="Oswald"/>
                <a:cs typeface="Oswald"/>
                <a:sym typeface="Oswald"/>
              </a:rPr>
              <a:t> Version Control: Git.</a:t>
            </a:r>
            <a:endParaRPr sz="3200">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a:t>
            </a:r>
            <a:r>
              <a:rPr lang="en">
                <a:solidFill>
                  <a:schemeClr val="dk1"/>
                </a:solidFill>
                <a:latin typeface="Oswald"/>
                <a:ea typeface="Oswald"/>
                <a:cs typeface="Oswald"/>
                <a:sym typeface="Oswald"/>
              </a:rPr>
              <a:t> Software Tracking: GitHub.</a:t>
            </a:r>
            <a:endParaRPr sz="3200">
              <a:solidFill>
                <a:schemeClr val="dk1"/>
              </a:solidFill>
              <a:latin typeface="Oswald"/>
              <a:ea typeface="Oswald"/>
              <a:cs typeface="Oswald"/>
              <a:sym typeface="Oswald"/>
            </a:endParaRPr>
          </a:p>
          <a:p>
            <a:pPr indent="0" lvl="0" marL="0" rtl="0" algn="l">
              <a:spcBef>
                <a:spcPts val="0"/>
              </a:spcBef>
              <a:spcAft>
                <a:spcPts val="1200"/>
              </a:spcAft>
              <a:buNone/>
            </a:pPr>
            <a:r>
              <a:t/>
            </a:r>
            <a:endParaRPr>
              <a:solidFill>
                <a:srgbClr val="38BDF8"/>
              </a:solidFill>
              <a:latin typeface="Oswald"/>
              <a:ea typeface="Oswald"/>
              <a:cs typeface="Oswald"/>
              <a:sym typeface="Oswald"/>
            </a:endParaRPr>
          </a:p>
        </p:txBody>
      </p:sp>
      <p:sp>
        <p:nvSpPr>
          <p:cNvPr id="69" name="Google Shape;69;p1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0" name="Google Shape;70;p14" title="image.png"/>
          <p:cNvPicPr preferRelativeResize="0"/>
          <p:nvPr/>
        </p:nvPicPr>
        <p:blipFill>
          <a:blip r:embed="rId3">
            <a:alphaModFix/>
          </a:blip>
          <a:stretch>
            <a:fillRect/>
          </a:stretch>
        </p:blipFill>
        <p:spPr>
          <a:xfrm>
            <a:off x="4068450" y="2369100"/>
            <a:ext cx="4721674" cy="24346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F20"/>
        </a:solidFill>
      </p:bgPr>
    </p:bg>
    <p:spTree>
      <p:nvGrpSpPr>
        <p:cNvPr id="74" name="Shape 74"/>
        <p:cNvGrpSpPr/>
        <p:nvPr/>
      </p:nvGrpSpPr>
      <p:grpSpPr>
        <a:xfrm>
          <a:off x="0" y="0"/>
          <a:ext cx="0" cy="0"/>
          <a:chOff x="0" y="0"/>
          <a:chExt cx="0" cy="0"/>
        </a:xfrm>
      </p:grpSpPr>
      <p:sp>
        <p:nvSpPr>
          <p:cNvPr id="75" name="Google Shape;75;p15"/>
          <p:cNvSpPr txBox="1"/>
          <p:nvPr>
            <p:ph type="title"/>
          </p:nvPr>
        </p:nvSpPr>
        <p:spPr>
          <a:xfrm>
            <a:off x="262550" y="344525"/>
            <a:ext cx="4009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Prompts</a:t>
            </a:r>
            <a:endParaRPr/>
          </a:p>
          <a:p>
            <a:pPr indent="0" lvl="0" marL="0" rtl="0" algn="l">
              <a:spcBef>
                <a:spcPts val="0"/>
              </a:spcBef>
              <a:spcAft>
                <a:spcPts val="0"/>
              </a:spcAft>
              <a:buNone/>
            </a:pPr>
            <a:r>
              <a:t/>
            </a:r>
            <a:endParaRPr/>
          </a:p>
        </p:txBody>
      </p:sp>
      <p:sp>
        <p:nvSpPr>
          <p:cNvPr id="76" name="Google Shape;76;p1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7" name="Google Shape;77;p15"/>
          <p:cNvSpPr txBox="1"/>
          <p:nvPr/>
        </p:nvSpPr>
        <p:spPr>
          <a:xfrm>
            <a:off x="1014100" y="1097650"/>
            <a:ext cx="1143900" cy="31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Oswald"/>
                <a:ea typeface="Oswald"/>
                <a:cs typeface="Oswald"/>
                <a:sym typeface="Oswald"/>
              </a:rPr>
              <a:t>Prompt 1</a:t>
            </a:r>
            <a:endParaRPr sz="1800">
              <a:solidFill>
                <a:schemeClr val="dk1"/>
              </a:solidFill>
              <a:latin typeface="Oswald"/>
              <a:ea typeface="Oswald"/>
              <a:cs typeface="Oswald"/>
              <a:sym typeface="Oswald"/>
            </a:endParaRPr>
          </a:p>
        </p:txBody>
      </p:sp>
      <p:sp>
        <p:nvSpPr>
          <p:cNvPr id="78" name="Google Shape;78;p15"/>
          <p:cNvSpPr txBox="1"/>
          <p:nvPr/>
        </p:nvSpPr>
        <p:spPr>
          <a:xfrm>
            <a:off x="3986850" y="1123450"/>
            <a:ext cx="2161200" cy="2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Oswald"/>
                <a:ea typeface="Oswald"/>
                <a:cs typeface="Oswald"/>
                <a:sym typeface="Oswald"/>
              </a:rPr>
              <a:t>Prompt 2</a:t>
            </a:r>
            <a:endParaRPr sz="1800">
              <a:solidFill>
                <a:schemeClr val="dk1"/>
              </a:solidFill>
              <a:latin typeface="Oswald"/>
              <a:ea typeface="Oswald"/>
              <a:cs typeface="Oswald"/>
              <a:sym typeface="Oswald"/>
            </a:endParaRPr>
          </a:p>
        </p:txBody>
      </p:sp>
      <p:sp>
        <p:nvSpPr>
          <p:cNvPr id="79" name="Google Shape;79;p15"/>
          <p:cNvSpPr txBox="1"/>
          <p:nvPr/>
        </p:nvSpPr>
        <p:spPr>
          <a:xfrm>
            <a:off x="7023175" y="1123450"/>
            <a:ext cx="2161200" cy="2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Oswald"/>
                <a:ea typeface="Oswald"/>
                <a:cs typeface="Oswald"/>
                <a:sym typeface="Oswald"/>
              </a:rPr>
              <a:t>Prompt 3</a:t>
            </a:r>
            <a:endParaRPr sz="1800">
              <a:solidFill>
                <a:schemeClr val="dk1"/>
              </a:solidFill>
              <a:latin typeface="Oswald"/>
              <a:ea typeface="Oswald"/>
              <a:cs typeface="Oswald"/>
              <a:sym typeface="Oswald"/>
            </a:endParaRPr>
          </a:p>
        </p:txBody>
      </p:sp>
      <p:sp>
        <p:nvSpPr>
          <p:cNvPr id="80" name="Google Shape;80;p15"/>
          <p:cNvSpPr/>
          <p:nvPr/>
        </p:nvSpPr>
        <p:spPr>
          <a:xfrm>
            <a:off x="203249" y="1493601"/>
            <a:ext cx="2682900" cy="3389100"/>
          </a:xfrm>
          <a:prstGeom prst="roundRect">
            <a:avLst>
              <a:gd fmla="val 16667" name="adj"/>
            </a:avLst>
          </a:prstGeom>
          <a:solidFill>
            <a:srgbClr val="0F1F36"/>
          </a:solidFill>
          <a:ln cap="flat" cmpd="sng" w="12700">
            <a:solidFill>
              <a:srgbClr val="38BDF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l">
              <a:spcBef>
                <a:spcPts val="0"/>
              </a:spcBef>
              <a:spcAft>
                <a:spcPts val="0"/>
              </a:spcAft>
              <a:buNone/>
            </a:pPr>
            <a:r>
              <a:t/>
            </a:r>
            <a:endParaRPr b="1" sz="800">
              <a:solidFill>
                <a:schemeClr val="dk1"/>
              </a:solidFill>
              <a:latin typeface="Oswald"/>
              <a:ea typeface="Oswald"/>
              <a:cs typeface="Oswald"/>
              <a:sym typeface="Oswald"/>
            </a:endParaRPr>
          </a:p>
          <a:p>
            <a:pPr indent="0" lvl="0" marL="0" rtl="0" algn="ctr">
              <a:spcBef>
                <a:spcPts val="400"/>
              </a:spcBef>
              <a:spcAft>
                <a:spcPts val="0"/>
              </a:spcAft>
              <a:buNone/>
            </a:pPr>
            <a:r>
              <a:rPr b="1" lang="en" sz="800">
                <a:solidFill>
                  <a:schemeClr val="dk1"/>
                </a:solidFill>
                <a:latin typeface="Oswald"/>
                <a:ea typeface="Oswald"/>
                <a:cs typeface="Oswald"/>
                <a:sym typeface="Oswald"/>
              </a:rPr>
              <a:t>Initial Flask + frontend skeleton</a:t>
            </a:r>
            <a:endParaRPr sz="800">
              <a:solidFill>
                <a:schemeClr val="dk1"/>
              </a:solidFill>
              <a:latin typeface="Oswald"/>
              <a:ea typeface="Oswald"/>
              <a:cs typeface="Oswald"/>
              <a:sym typeface="Oswald"/>
            </a:endParaRPr>
          </a:p>
          <a:p>
            <a:pPr indent="0" lvl="0" marL="228600" rtl="0" algn="l">
              <a:spcBef>
                <a:spcPts val="400"/>
              </a:spcBef>
              <a:spcAft>
                <a:spcPts val="0"/>
              </a:spcAft>
              <a:buNone/>
            </a:pPr>
            <a:r>
              <a:t/>
            </a:r>
            <a:endParaRPr b="1" sz="950">
              <a:solidFill>
                <a:schemeClr val="dk1"/>
              </a:solidFill>
              <a:latin typeface="Oswald"/>
              <a:ea typeface="Oswald"/>
              <a:cs typeface="Oswald"/>
              <a:sym typeface="Oswald"/>
            </a:endParaRPr>
          </a:p>
          <a:p>
            <a:pPr indent="0" lvl="0" marL="228600" rtl="0" algn="l">
              <a:spcBef>
                <a:spcPts val="400"/>
              </a:spcBef>
              <a:spcAft>
                <a:spcPts val="0"/>
              </a:spcAft>
              <a:buNone/>
            </a:pPr>
            <a:r>
              <a:rPr b="1" lang="en" sz="950">
                <a:solidFill>
                  <a:schemeClr val="dk1"/>
                </a:solidFill>
                <a:latin typeface="Oswald"/>
                <a:ea typeface="Oswald"/>
                <a:cs typeface="Oswald"/>
                <a:sym typeface="Oswald"/>
              </a:rPr>
              <a:t>Prompt:</a:t>
            </a:r>
            <a:r>
              <a:rPr b="1" lang="en" sz="800">
                <a:solidFill>
                  <a:schemeClr val="dk1"/>
                </a:solidFill>
                <a:latin typeface="Oswald"/>
                <a:ea typeface="Oswald"/>
                <a:cs typeface="Oswald"/>
                <a:sym typeface="Oswald"/>
              </a:rPr>
              <a:t> </a:t>
            </a:r>
            <a:r>
              <a:rPr lang="en" sz="800">
                <a:solidFill>
                  <a:schemeClr val="dk1"/>
                </a:solidFill>
                <a:latin typeface="Oswald"/>
                <a:ea typeface="Oswald"/>
                <a:cs typeface="Oswald"/>
                <a:sym typeface="Oswald"/>
              </a:rPr>
              <a:t>Build a Flask application that serves a single-page web app from frontend/index.html. The Flask app should live in backend/app.py with /api/* routes, and the static frontend (HTML, CSS, JS, no build step) should live in frontend/. Use a sidebar/map/dashboard three-column layout: search input + site metadata in the sidebar, an interactive map in the main panel, and a tabbed data view (Overview, Forecast, History, Alerts, Risk Score, Build Tips) below the map. Default port 5001 to avoid macOS AirPlay collisions; allow PORT env override.</a:t>
            </a:r>
            <a:endParaRPr sz="800">
              <a:solidFill>
                <a:schemeClr val="dk1"/>
              </a:solidFill>
              <a:latin typeface="Oswald"/>
              <a:ea typeface="Oswald"/>
              <a:cs typeface="Oswald"/>
              <a:sym typeface="Oswald"/>
            </a:endParaRPr>
          </a:p>
          <a:p>
            <a:pPr indent="0" lvl="0" marL="228600" rtl="0" algn="l">
              <a:spcBef>
                <a:spcPts val="400"/>
              </a:spcBef>
              <a:spcAft>
                <a:spcPts val="0"/>
              </a:spcAft>
              <a:buNone/>
            </a:pPr>
            <a:r>
              <a:rPr b="1" lang="en" sz="950">
                <a:solidFill>
                  <a:schemeClr val="dk1"/>
                </a:solidFill>
                <a:latin typeface="Oswald"/>
                <a:ea typeface="Oswald"/>
                <a:cs typeface="Oswald"/>
                <a:sym typeface="Oswald"/>
              </a:rPr>
              <a:t>Output:</a:t>
            </a:r>
            <a:r>
              <a:rPr b="1" lang="en" sz="800">
                <a:solidFill>
                  <a:schemeClr val="dk1"/>
                </a:solidFill>
                <a:latin typeface="Oswald"/>
                <a:ea typeface="Oswald"/>
                <a:cs typeface="Oswald"/>
                <a:sym typeface="Oswald"/>
              </a:rPr>
              <a:t> </a:t>
            </a:r>
            <a:r>
              <a:rPr lang="en" sz="800">
                <a:solidFill>
                  <a:schemeClr val="dk1"/>
                </a:solidFill>
                <a:latin typeface="Oswald"/>
                <a:ea typeface="Oswald"/>
                <a:cs typeface="Oswald"/>
                <a:sym typeface="Oswald"/>
              </a:rPr>
              <a:t>app.py with a basic route table (/, /api/health, /api/search stub), index.html with the three-pane layout, app.js with tab-switching logic, styles.css with a glass-morphism theme and CSS Grid layout. No external API calls yet.</a:t>
            </a:r>
            <a:endParaRPr sz="800">
              <a:solidFill>
                <a:schemeClr val="dk1"/>
              </a:solidFill>
              <a:latin typeface="Oswald"/>
              <a:ea typeface="Oswald"/>
              <a:cs typeface="Oswald"/>
              <a:sym typeface="Oswald"/>
            </a:endParaRPr>
          </a:p>
          <a:p>
            <a:pPr indent="0" lvl="0" marL="228600" rtl="0" algn="l">
              <a:spcBef>
                <a:spcPts val="400"/>
              </a:spcBef>
              <a:spcAft>
                <a:spcPts val="0"/>
              </a:spcAft>
              <a:buNone/>
            </a:pPr>
            <a:r>
              <a:rPr b="1" lang="en" sz="950">
                <a:solidFill>
                  <a:schemeClr val="dk1"/>
                </a:solidFill>
                <a:latin typeface="Oswald"/>
                <a:ea typeface="Oswald"/>
                <a:cs typeface="Oswald"/>
                <a:sym typeface="Oswald"/>
              </a:rPr>
              <a:t>Validation:</a:t>
            </a:r>
            <a:r>
              <a:rPr b="1" lang="en" sz="800">
                <a:solidFill>
                  <a:schemeClr val="dk1"/>
                </a:solidFill>
                <a:latin typeface="Oswald"/>
                <a:ea typeface="Oswald"/>
                <a:cs typeface="Oswald"/>
                <a:sym typeface="Oswald"/>
              </a:rPr>
              <a:t> </a:t>
            </a:r>
            <a:r>
              <a:rPr lang="en" sz="800">
                <a:solidFill>
                  <a:schemeClr val="dk1"/>
                </a:solidFill>
                <a:latin typeface="Oswald"/>
                <a:ea typeface="Oswald"/>
                <a:cs typeface="Oswald"/>
                <a:sym typeface="Oswald"/>
              </a:rPr>
              <a:t>Manual smoke test — booted the server, confirmed the page rendered with all six tabs clickable and the layout responsive at three viewport widths (1440px, 1024px, 600px).</a:t>
            </a:r>
            <a:endParaRPr sz="800">
              <a:solidFill>
                <a:schemeClr val="dk1"/>
              </a:solidFill>
              <a:latin typeface="Oswald"/>
              <a:ea typeface="Oswald"/>
              <a:cs typeface="Oswald"/>
              <a:sym typeface="Oswald"/>
            </a:endParaRPr>
          </a:p>
          <a:p>
            <a:pPr indent="0" lvl="0" marL="0" rtl="0" algn="l">
              <a:lnSpc>
                <a:spcPct val="115000"/>
              </a:lnSpc>
              <a:spcBef>
                <a:spcPts val="1200"/>
              </a:spcBef>
              <a:spcAft>
                <a:spcPts val="1200"/>
              </a:spcAft>
              <a:buNone/>
            </a:pPr>
            <a:r>
              <a:t/>
            </a:r>
            <a:endParaRPr sz="1500">
              <a:solidFill>
                <a:schemeClr val="dk1"/>
              </a:solidFill>
              <a:latin typeface="Oswald"/>
              <a:ea typeface="Oswald"/>
              <a:cs typeface="Oswald"/>
              <a:sym typeface="Oswald"/>
            </a:endParaRPr>
          </a:p>
        </p:txBody>
      </p:sp>
      <p:sp>
        <p:nvSpPr>
          <p:cNvPr id="81" name="Google Shape;81;p15"/>
          <p:cNvSpPr/>
          <p:nvPr/>
        </p:nvSpPr>
        <p:spPr>
          <a:xfrm>
            <a:off x="3193199" y="1493601"/>
            <a:ext cx="2682900" cy="3389100"/>
          </a:xfrm>
          <a:prstGeom prst="roundRect">
            <a:avLst>
              <a:gd fmla="val 16667" name="adj"/>
            </a:avLst>
          </a:prstGeom>
          <a:solidFill>
            <a:srgbClr val="0F1F36"/>
          </a:solidFill>
          <a:ln cap="flat" cmpd="sng" w="12700">
            <a:solidFill>
              <a:srgbClr val="22C55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l">
              <a:spcBef>
                <a:spcPts val="0"/>
              </a:spcBef>
              <a:spcAft>
                <a:spcPts val="0"/>
              </a:spcAft>
              <a:buNone/>
            </a:pPr>
            <a:r>
              <a:t/>
            </a:r>
            <a:endParaRPr b="1" sz="800">
              <a:solidFill>
                <a:schemeClr val="dk1"/>
              </a:solidFill>
              <a:latin typeface="Oswald"/>
              <a:ea typeface="Oswald"/>
              <a:cs typeface="Oswald"/>
              <a:sym typeface="Oswald"/>
            </a:endParaRPr>
          </a:p>
          <a:p>
            <a:pPr indent="0" lvl="0" marL="0" rtl="0" algn="l">
              <a:spcBef>
                <a:spcPts val="400"/>
              </a:spcBef>
              <a:spcAft>
                <a:spcPts val="0"/>
              </a:spcAft>
              <a:buNone/>
            </a:pPr>
            <a:r>
              <a:t/>
            </a:r>
            <a:endParaRPr b="1" sz="800">
              <a:solidFill>
                <a:schemeClr val="dk1"/>
              </a:solidFill>
              <a:latin typeface="Oswald"/>
              <a:ea typeface="Oswald"/>
              <a:cs typeface="Oswald"/>
              <a:sym typeface="Oswald"/>
            </a:endParaRPr>
          </a:p>
          <a:p>
            <a:pPr indent="0" lvl="0" marL="0" rtl="0" algn="l">
              <a:spcBef>
                <a:spcPts val="400"/>
              </a:spcBef>
              <a:spcAft>
                <a:spcPts val="0"/>
              </a:spcAft>
              <a:buNone/>
            </a:pPr>
            <a:r>
              <a:t/>
            </a:r>
            <a:endParaRPr b="1" sz="800">
              <a:solidFill>
                <a:schemeClr val="dk1"/>
              </a:solidFill>
              <a:latin typeface="Oswald"/>
              <a:ea typeface="Oswald"/>
              <a:cs typeface="Oswald"/>
              <a:sym typeface="Oswald"/>
            </a:endParaRPr>
          </a:p>
          <a:p>
            <a:pPr indent="0" lvl="0" marL="0" rtl="0" algn="ctr">
              <a:spcBef>
                <a:spcPts val="400"/>
              </a:spcBef>
              <a:spcAft>
                <a:spcPts val="0"/>
              </a:spcAft>
              <a:buNone/>
            </a:pPr>
            <a:r>
              <a:rPr b="1" lang="en" sz="800">
                <a:solidFill>
                  <a:schemeClr val="dk1"/>
                </a:solidFill>
                <a:latin typeface="Oswald"/>
                <a:ea typeface="Oswald"/>
                <a:cs typeface="Oswald"/>
                <a:sym typeface="Oswald"/>
              </a:rPr>
              <a:t>State hazard profiles + IECC zones + building codes</a:t>
            </a:r>
            <a:endParaRPr sz="800">
              <a:solidFill>
                <a:schemeClr val="dk1"/>
              </a:solidFill>
              <a:latin typeface="Oswald"/>
              <a:ea typeface="Oswald"/>
              <a:cs typeface="Oswald"/>
              <a:sym typeface="Oswald"/>
            </a:endParaRPr>
          </a:p>
          <a:p>
            <a:pPr indent="0" lvl="0" marL="228600" rtl="0" algn="l">
              <a:spcBef>
                <a:spcPts val="400"/>
              </a:spcBef>
              <a:spcAft>
                <a:spcPts val="0"/>
              </a:spcAft>
              <a:buNone/>
            </a:pPr>
            <a:r>
              <a:t/>
            </a:r>
            <a:endParaRPr b="1" sz="950">
              <a:solidFill>
                <a:schemeClr val="dk1"/>
              </a:solidFill>
              <a:latin typeface="Oswald"/>
              <a:ea typeface="Oswald"/>
              <a:cs typeface="Oswald"/>
              <a:sym typeface="Oswald"/>
            </a:endParaRPr>
          </a:p>
          <a:p>
            <a:pPr indent="0" lvl="0" marL="228600" rtl="0" algn="l">
              <a:spcBef>
                <a:spcPts val="400"/>
              </a:spcBef>
              <a:spcAft>
                <a:spcPts val="0"/>
              </a:spcAft>
              <a:buNone/>
            </a:pPr>
            <a:r>
              <a:rPr b="1" lang="en" sz="950">
                <a:solidFill>
                  <a:schemeClr val="dk1"/>
                </a:solidFill>
                <a:latin typeface="Oswald"/>
                <a:ea typeface="Oswald"/>
                <a:cs typeface="Oswald"/>
                <a:sym typeface="Oswald"/>
              </a:rPr>
              <a:t>Prompt:</a:t>
            </a:r>
            <a:r>
              <a:rPr b="1" lang="en" sz="800">
                <a:solidFill>
                  <a:schemeClr val="dk1"/>
                </a:solidFill>
                <a:latin typeface="Oswald"/>
                <a:ea typeface="Oswald"/>
                <a:cs typeface="Oswald"/>
                <a:sym typeface="Oswald"/>
              </a:rPr>
              <a:t> </a:t>
            </a:r>
            <a:r>
              <a:rPr lang="en" sz="800">
                <a:solidFill>
                  <a:schemeClr val="dk1"/>
                </a:solidFill>
                <a:latin typeface="Oswald"/>
                <a:ea typeface="Oswald"/>
                <a:cs typeface="Oswald"/>
                <a:sym typeface="Oswald"/>
              </a:rPr>
              <a:t>Create a Python module backend/db/seed_data.py with three reference dictionaries: STATE_PROFILES (51 states + DC, each with hurricane/tornado/flood/winter/heat/seismic/wildfire scores 0–10, sourced from NOAA Storm Events and FEMA hazard summaries); IECC_ZONES (per-state IECC climate zone, e.g. FL = "1/2", AK = "7/8"); BUILDING_CODES (per-state adopted IBC year and label, e.g. "FBC 2023 (IBC-based)"). Hand-curate — do not scrape.</a:t>
            </a:r>
            <a:endParaRPr sz="800">
              <a:solidFill>
                <a:schemeClr val="dk1"/>
              </a:solidFill>
              <a:latin typeface="Oswald"/>
              <a:ea typeface="Oswald"/>
              <a:cs typeface="Oswald"/>
              <a:sym typeface="Oswald"/>
            </a:endParaRPr>
          </a:p>
          <a:p>
            <a:pPr indent="0" lvl="0" marL="228600" rtl="0" algn="l">
              <a:spcBef>
                <a:spcPts val="400"/>
              </a:spcBef>
              <a:spcAft>
                <a:spcPts val="0"/>
              </a:spcAft>
              <a:buNone/>
            </a:pPr>
            <a:r>
              <a:rPr b="1" lang="en" sz="950">
                <a:solidFill>
                  <a:schemeClr val="dk1"/>
                </a:solidFill>
                <a:latin typeface="Oswald"/>
                <a:ea typeface="Oswald"/>
                <a:cs typeface="Oswald"/>
                <a:sym typeface="Oswald"/>
              </a:rPr>
              <a:t>Output:</a:t>
            </a:r>
            <a:r>
              <a:rPr b="1" lang="en" sz="800">
                <a:solidFill>
                  <a:schemeClr val="dk1"/>
                </a:solidFill>
                <a:latin typeface="Oswald"/>
                <a:ea typeface="Oswald"/>
                <a:cs typeface="Oswald"/>
                <a:sym typeface="Oswald"/>
              </a:rPr>
              <a:t> </a:t>
            </a:r>
            <a:r>
              <a:rPr lang="en" sz="800">
                <a:solidFill>
                  <a:schemeClr val="dk1"/>
                </a:solidFill>
                <a:latin typeface="Oswald"/>
                <a:ea typeface="Oswald"/>
                <a:cs typeface="Oswald"/>
                <a:sym typeface="Oswald"/>
              </a:rPr>
              <a:t>A 250-line seed_data.py with all three dicts populated for 50 states + DC. Sources cited in inline comments (NOAA Storm Events, FEMA National Risk Index summaries, ICC code adoption tracker).</a:t>
            </a:r>
            <a:endParaRPr sz="800">
              <a:solidFill>
                <a:schemeClr val="dk1"/>
              </a:solidFill>
              <a:latin typeface="Oswald"/>
              <a:ea typeface="Oswald"/>
              <a:cs typeface="Oswald"/>
              <a:sym typeface="Oswald"/>
            </a:endParaRPr>
          </a:p>
          <a:p>
            <a:pPr indent="0" lvl="0" marL="228600" rtl="0" algn="l">
              <a:spcBef>
                <a:spcPts val="400"/>
              </a:spcBef>
              <a:spcAft>
                <a:spcPts val="0"/>
              </a:spcAft>
              <a:buNone/>
            </a:pPr>
            <a:r>
              <a:rPr b="1" lang="en" sz="950">
                <a:solidFill>
                  <a:schemeClr val="dk1"/>
                </a:solidFill>
                <a:latin typeface="Oswald"/>
                <a:ea typeface="Oswald"/>
                <a:cs typeface="Oswald"/>
                <a:sym typeface="Oswald"/>
              </a:rPr>
              <a:t>Validation:</a:t>
            </a:r>
            <a:r>
              <a:rPr b="1" lang="en" sz="800">
                <a:solidFill>
                  <a:schemeClr val="dk1"/>
                </a:solidFill>
                <a:latin typeface="Oswald"/>
                <a:ea typeface="Oswald"/>
                <a:cs typeface="Oswald"/>
                <a:sym typeface="Oswald"/>
              </a:rPr>
              <a:t> </a:t>
            </a:r>
            <a:r>
              <a:rPr lang="en" sz="800">
                <a:solidFill>
                  <a:schemeClr val="dk1"/>
                </a:solidFill>
                <a:latin typeface="Oswald"/>
                <a:ea typeface="Oswald"/>
                <a:cs typeface="Oswald"/>
                <a:sym typeface="Oswald"/>
              </a:rPr>
              <a:t>Wrote a test that asserts every state code appears in all three dicts — caught a missing DC entry in STATE_PROFILES on first run; fixed before commit. Test now lives at tests/test_routes.py::test_history_covers_all_us_states_and_dc.</a:t>
            </a:r>
            <a:endParaRPr sz="800">
              <a:solidFill>
                <a:schemeClr val="dk1"/>
              </a:solidFill>
              <a:latin typeface="Oswald"/>
              <a:ea typeface="Oswald"/>
              <a:cs typeface="Oswald"/>
              <a:sym typeface="Oswald"/>
            </a:endParaRPr>
          </a:p>
          <a:p>
            <a:pPr indent="0" lvl="0" marL="0" rtl="0" algn="l">
              <a:lnSpc>
                <a:spcPct val="115000"/>
              </a:lnSpc>
              <a:spcBef>
                <a:spcPts val="1200"/>
              </a:spcBef>
              <a:spcAft>
                <a:spcPts val="0"/>
              </a:spcAft>
              <a:buNone/>
            </a:pPr>
            <a:r>
              <a:t/>
            </a:r>
            <a:endParaRPr b="1" sz="800">
              <a:solidFill>
                <a:schemeClr val="dk1"/>
              </a:solidFill>
              <a:latin typeface="Oswald"/>
              <a:ea typeface="Oswald"/>
              <a:cs typeface="Oswald"/>
              <a:sym typeface="Oswald"/>
            </a:endParaRPr>
          </a:p>
          <a:p>
            <a:pPr indent="0" lvl="0" marL="0" marR="0" rtl="0" algn="l">
              <a:spcBef>
                <a:spcPts val="1200"/>
              </a:spcBef>
              <a:spcAft>
                <a:spcPts val="0"/>
              </a:spcAft>
              <a:buNone/>
            </a:pPr>
            <a:r>
              <a:t/>
            </a:r>
            <a:endParaRPr b="1" sz="1300">
              <a:solidFill>
                <a:srgbClr val="F8FAFC"/>
              </a:solidFill>
              <a:latin typeface="Oswald"/>
              <a:ea typeface="Oswald"/>
              <a:cs typeface="Oswald"/>
              <a:sym typeface="Oswald"/>
            </a:endParaRPr>
          </a:p>
        </p:txBody>
      </p:sp>
      <p:sp>
        <p:nvSpPr>
          <p:cNvPr id="82" name="Google Shape;82;p15"/>
          <p:cNvSpPr/>
          <p:nvPr/>
        </p:nvSpPr>
        <p:spPr>
          <a:xfrm>
            <a:off x="6148050" y="1493500"/>
            <a:ext cx="2792700" cy="3389100"/>
          </a:xfrm>
          <a:prstGeom prst="roundRect">
            <a:avLst>
              <a:gd fmla="val 16667" name="adj"/>
            </a:avLst>
          </a:prstGeom>
          <a:solidFill>
            <a:srgbClr val="0F1F36"/>
          </a:solidFill>
          <a:ln cap="flat" cmpd="sng" w="12700">
            <a:solidFill>
              <a:srgbClr val="F59E0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l">
              <a:spcBef>
                <a:spcPts val="0"/>
              </a:spcBef>
              <a:spcAft>
                <a:spcPts val="0"/>
              </a:spcAft>
              <a:buNone/>
            </a:pPr>
            <a:r>
              <a:t/>
            </a:r>
            <a:endParaRPr b="1" sz="800">
              <a:solidFill>
                <a:schemeClr val="dk1"/>
              </a:solidFill>
              <a:latin typeface="Oswald"/>
              <a:ea typeface="Oswald"/>
              <a:cs typeface="Oswald"/>
              <a:sym typeface="Oswald"/>
            </a:endParaRPr>
          </a:p>
          <a:p>
            <a:pPr indent="0" lvl="0" marL="0" rtl="0" algn="l">
              <a:spcBef>
                <a:spcPts val="400"/>
              </a:spcBef>
              <a:spcAft>
                <a:spcPts val="0"/>
              </a:spcAft>
              <a:buNone/>
            </a:pPr>
            <a:r>
              <a:t/>
            </a:r>
            <a:endParaRPr b="1" sz="800">
              <a:solidFill>
                <a:schemeClr val="dk1"/>
              </a:solidFill>
              <a:latin typeface="Oswald"/>
              <a:ea typeface="Oswald"/>
              <a:cs typeface="Oswald"/>
              <a:sym typeface="Oswald"/>
            </a:endParaRPr>
          </a:p>
          <a:p>
            <a:pPr indent="0" lvl="0" marL="0" rtl="0" algn="l">
              <a:spcBef>
                <a:spcPts val="400"/>
              </a:spcBef>
              <a:spcAft>
                <a:spcPts val="0"/>
              </a:spcAft>
              <a:buNone/>
            </a:pPr>
            <a:r>
              <a:t/>
            </a:r>
            <a:endParaRPr b="1" sz="800">
              <a:solidFill>
                <a:schemeClr val="dk1"/>
              </a:solidFill>
              <a:latin typeface="Oswald"/>
              <a:ea typeface="Oswald"/>
              <a:cs typeface="Oswald"/>
              <a:sym typeface="Oswald"/>
            </a:endParaRPr>
          </a:p>
          <a:p>
            <a:pPr indent="0" lvl="0" marL="0" rtl="0" algn="ctr">
              <a:spcBef>
                <a:spcPts val="400"/>
              </a:spcBef>
              <a:spcAft>
                <a:spcPts val="0"/>
              </a:spcAft>
              <a:buNone/>
            </a:pPr>
            <a:r>
              <a:rPr b="1" lang="en" sz="800">
                <a:solidFill>
                  <a:schemeClr val="dk1"/>
                </a:solidFill>
                <a:latin typeface="Oswald"/>
                <a:ea typeface="Oswald"/>
                <a:cs typeface="Oswald"/>
                <a:sym typeface="Oswald"/>
              </a:rPr>
              <a:t>Construction recommendations per hazard category</a:t>
            </a:r>
            <a:endParaRPr sz="800">
              <a:solidFill>
                <a:schemeClr val="dk1"/>
              </a:solidFill>
              <a:latin typeface="Oswald"/>
              <a:ea typeface="Oswald"/>
              <a:cs typeface="Oswald"/>
              <a:sym typeface="Oswald"/>
            </a:endParaRPr>
          </a:p>
          <a:p>
            <a:pPr indent="0" lvl="0" marL="228600" rtl="0" algn="l">
              <a:spcBef>
                <a:spcPts val="400"/>
              </a:spcBef>
              <a:spcAft>
                <a:spcPts val="0"/>
              </a:spcAft>
              <a:buNone/>
            </a:pPr>
            <a:r>
              <a:t/>
            </a:r>
            <a:endParaRPr b="1" sz="1000">
              <a:solidFill>
                <a:schemeClr val="dk1"/>
              </a:solidFill>
              <a:latin typeface="Oswald"/>
              <a:ea typeface="Oswald"/>
              <a:cs typeface="Oswald"/>
              <a:sym typeface="Oswald"/>
            </a:endParaRPr>
          </a:p>
          <a:p>
            <a:pPr indent="0" lvl="0" marL="228600" rtl="0" algn="l">
              <a:spcBef>
                <a:spcPts val="400"/>
              </a:spcBef>
              <a:spcAft>
                <a:spcPts val="0"/>
              </a:spcAft>
              <a:buNone/>
            </a:pPr>
            <a:r>
              <a:rPr b="1" lang="en" sz="1000">
                <a:solidFill>
                  <a:schemeClr val="dk1"/>
                </a:solidFill>
                <a:latin typeface="Oswald"/>
                <a:ea typeface="Oswald"/>
                <a:cs typeface="Oswald"/>
                <a:sym typeface="Oswald"/>
              </a:rPr>
              <a:t>Prompt:</a:t>
            </a:r>
            <a:r>
              <a:rPr b="1" lang="en" sz="800">
                <a:solidFill>
                  <a:schemeClr val="dk1"/>
                </a:solidFill>
                <a:latin typeface="Oswald"/>
                <a:ea typeface="Oswald"/>
                <a:cs typeface="Oswald"/>
                <a:sym typeface="Oswald"/>
              </a:rPr>
              <a:t> </a:t>
            </a:r>
            <a:r>
              <a:rPr lang="en" sz="800">
                <a:solidFill>
                  <a:schemeClr val="dk1"/>
                </a:solidFill>
                <a:latin typeface="Oswald"/>
                <a:ea typeface="Oswald"/>
                <a:cs typeface="Oswald"/>
                <a:sym typeface="Oswald"/>
              </a:rPr>
              <a:t>Add CONSTRUCTION_TIPS to seed_data.py: a dict keyed by the seven hazard categories (hurricane, tornado, flood, winter, heat, seismic, wildfire), each value a list of 3–6 short engineering-grade recommendations. Examples: hurricane should mention impact-rated glazing, hurricane straps, FEMA P-320 safe rooms; flood should mention finished floor elevation above the BFE, flood-vent calculation per ASCE 24; seismic should mention ASCE 7 design category, foundation anchorage. Cite FEMA / ICC / ASCE standards in the recommendation text where appropriate.</a:t>
            </a:r>
            <a:endParaRPr sz="800">
              <a:solidFill>
                <a:schemeClr val="dk1"/>
              </a:solidFill>
              <a:latin typeface="Oswald"/>
              <a:ea typeface="Oswald"/>
              <a:cs typeface="Oswald"/>
              <a:sym typeface="Oswald"/>
            </a:endParaRPr>
          </a:p>
          <a:p>
            <a:pPr indent="0" lvl="0" marL="228600" rtl="0" algn="l">
              <a:spcBef>
                <a:spcPts val="400"/>
              </a:spcBef>
              <a:spcAft>
                <a:spcPts val="0"/>
              </a:spcAft>
              <a:buNone/>
            </a:pPr>
            <a:r>
              <a:rPr b="1" lang="en" sz="1000">
                <a:solidFill>
                  <a:schemeClr val="dk1"/>
                </a:solidFill>
                <a:latin typeface="Oswald"/>
                <a:ea typeface="Oswald"/>
                <a:cs typeface="Oswald"/>
                <a:sym typeface="Oswald"/>
              </a:rPr>
              <a:t>Output:</a:t>
            </a:r>
            <a:r>
              <a:rPr b="1" lang="en" sz="800">
                <a:solidFill>
                  <a:schemeClr val="dk1"/>
                </a:solidFill>
                <a:latin typeface="Oswald"/>
                <a:ea typeface="Oswald"/>
                <a:cs typeface="Oswald"/>
                <a:sym typeface="Oswald"/>
              </a:rPr>
              <a:t> </a:t>
            </a:r>
            <a:r>
              <a:rPr lang="en" sz="800">
                <a:solidFill>
                  <a:schemeClr val="dk1"/>
                </a:solidFill>
                <a:latin typeface="Oswald"/>
                <a:ea typeface="Oswald"/>
                <a:cs typeface="Oswald"/>
                <a:sym typeface="Oswald"/>
              </a:rPr>
              <a:t>CONSTRUCTION_TIPS dict with ~30 total recommendations across the seven categories. Each tip 1–2 sentences, written in the imperative voice ("Use impact-rated glazing per...").</a:t>
            </a:r>
            <a:endParaRPr sz="800">
              <a:solidFill>
                <a:schemeClr val="dk1"/>
              </a:solidFill>
              <a:latin typeface="Oswald"/>
              <a:ea typeface="Oswald"/>
              <a:cs typeface="Oswald"/>
              <a:sym typeface="Oswald"/>
            </a:endParaRPr>
          </a:p>
          <a:p>
            <a:pPr indent="0" lvl="0" marL="228600" rtl="0" algn="l">
              <a:spcBef>
                <a:spcPts val="400"/>
              </a:spcBef>
              <a:spcAft>
                <a:spcPts val="0"/>
              </a:spcAft>
              <a:buNone/>
            </a:pPr>
            <a:r>
              <a:rPr b="1" lang="en" sz="1000">
                <a:solidFill>
                  <a:schemeClr val="dk1"/>
                </a:solidFill>
                <a:latin typeface="Oswald"/>
                <a:ea typeface="Oswald"/>
                <a:cs typeface="Oswald"/>
                <a:sym typeface="Oswald"/>
              </a:rPr>
              <a:t>Validation:</a:t>
            </a:r>
            <a:r>
              <a:rPr b="1" lang="en" sz="800">
                <a:solidFill>
                  <a:schemeClr val="dk1"/>
                </a:solidFill>
                <a:latin typeface="Oswald"/>
                <a:ea typeface="Oswald"/>
                <a:cs typeface="Oswald"/>
                <a:sym typeface="Oswald"/>
              </a:rPr>
              <a:t> </a:t>
            </a:r>
            <a:r>
              <a:rPr lang="en" sz="800">
                <a:solidFill>
                  <a:schemeClr val="dk1"/>
                </a:solidFill>
                <a:latin typeface="Oswald"/>
                <a:ea typeface="Oswald"/>
                <a:cs typeface="Oswald"/>
                <a:sym typeface="Oswald"/>
              </a:rPr>
              <a:t>Cross-checked sample tips against FEMA P-320 (safe room standard) and ASCE 24 (flood design) PDFs. Three tips were rephrased after the cross-check to remove a misattribution to ASCE 7 that should have been ASCE 24.</a:t>
            </a:r>
            <a:endParaRPr sz="800">
              <a:solidFill>
                <a:schemeClr val="dk1"/>
              </a:solidFill>
              <a:latin typeface="Oswald"/>
              <a:ea typeface="Oswald"/>
              <a:cs typeface="Oswald"/>
              <a:sym typeface="Oswald"/>
            </a:endParaRPr>
          </a:p>
          <a:p>
            <a:pPr indent="0" lvl="0" marL="228600" rtl="0" algn="l">
              <a:spcBef>
                <a:spcPts val="1200"/>
              </a:spcBef>
              <a:spcAft>
                <a:spcPts val="0"/>
              </a:spcAft>
              <a:buNone/>
            </a:pPr>
            <a:r>
              <a:t/>
            </a:r>
            <a:endParaRPr b="1" sz="800">
              <a:solidFill>
                <a:schemeClr val="dk1"/>
              </a:solidFill>
              <a:latin typeface="Oswald"/>
              <a:ea typeface="Oswald"/>
              <a:cs typeface="Oswald"/>
              <a:sym typeface="Oswald"/>
            </a:endParaRPr>
          </a:p>
          <a:p>
            <a:pPr indent="0" lvl="0" marL="0" marR="0" rtl="0" algn="l">
              <a:spcBef>
                <a:spcPts val="1200"/>
              </a:spcBef>
              <a:spcAft>
                <a:spcPts val="0"/>
              </a:spcAft>
              <a:buNone/>
            </a:pPr>
            <a:r>
              <a:t/>
            </a:r>
            <a:endParaRPr b="1" sz="1600">
              <a:solidFill>
                <a:srgbClr val="F8FAFC"/>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F20"/>
        </a:solidFill>
      </p:bgPr>
    </p:bg>
    <p:spTree>
      <p:nvGrpSpPr>
        <p:cNvPr id="86" name="Shape 86"/>
        <p:cNvGrpSpPr/>
        <p:nvPr/>
      </p:nvGrpSpPr>
      <p:grpSpPr>
        <a:xfrm>
          <a:off x="0" y="0"/>
          <a:ext cx="0" cy="0"/>
          <a:chOff x="0" y="0"/>
          <a:chExt cx="0" cy="0"/>
        </a:xfrm>
      </p:grpSpPr>
      <p:sp>
        <p:nvSpPr>
          <p:cNvPr id="87" name="Google Shape;87;p16"/>
          <p:cNvSpPr txBox="1"/>
          <p:nvPr>
            <p:ph type="title"/>
          </p:nvPr>
        </p:nvSpPr>
        <p:spPr>
          <a:xfrm>
            <a:off x="311700" y="3485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a:t>System Structure</a:t>
            </a:r>
            <a:endParaRPr/>
          </a:p>
          <a:p>
            <a:pPr indent="0" lvl="0" marL="0" rtl="0" algn="l">
              <a:lnSpc>
                <a:spcPct val="115000"/>
              </a:lnSpc>
              <a:spcBef>
                <a:spcPts val="0"/>
              </a:spcBef>
              <a:spcAft>
                <a:spcPts val="0"/>
              </a:spcAft>
              <a:buNone/>
            </a:pPr>
            <a:r>
              <a:t/>
            </a:r>
            <a:endParaRPr sz="1333"/>
          </a:p>
        </p:txBody>
      </p:sp>
      <p:sp>
        <p:nvSpPr>
          <p:cNvPr id="88" name="Google Shape;88;p1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9" name="Google Shape;89;p16"/>
          <p:cNvSpPr/>
          <p:nvPr/>
        </p:nvSpPr>
        <p:spPr>
          <a:xfrm>
            <a:off x="89800" y="1412925"/>
            <a:ext cx="2682900" cy="2668500"/>
          </a:xfrm>
          <a:prstGeom prst="roundRect">
            <a:avLst>
              <a:gd fmla="val 16667" name="adj"/>
            </a:avLst>
          </a:prstGeom>
          <a:solidFill>
            <a:srgbClr val="0F1F36"/>
          </a:solidFill>
          <a:ln cap="flat" cmpd="sng" w="12700">
            <a:solidFill>
              <a:srgbClr val="38BDF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ctr">
              <a:lnSpc>
                <a:spcPct val="115000"/>
              </a:lnSpc>
              <a:spcBef>
                <a:spcPts val="0"/>
              </a:spcBef>
              <a:spcAft>
                <a:spcPts val="0"/>
              </a:spcAft>
              <a:buNone/>
            </a:pPr>
            <a:r>
              <a:rPr b="1" lang="en" sz="1100">
                <a:solidFill>
                  <a:schemeClr val="dk1"/>
                </a:solidFill>
                <a:latin typeface="Oswald"/>
                <a:ea typeface="Oswald"/>
                <a:cs typeface="Oswald"/>
                <a:sym typeface="Oswald"/>
              </a:rPr>
              <a:t>Presentation Layer</a:t>
            </a:r>
            <a:endParaRPr b="1" sz="1100">
              <a:solidFill>
                <a:schemeClr val="dk1"/>
              </a:solidFill>
              <a:latin typeface="Oswald"/>
              <a:ea typeface="Oswald"/>
              <a:cs typeface="Oswald"/>
              <a:sym typeface="Oswald"/>
            </a:endParaRPr>
          </a:p>
          <a:p>
            <a:pPr indent="0" lvl="0" marL="0" rtl="0" algn="ctr">
              <a:lnSpc>
                <a:spcPct val="115000"/>
              </a:lnSpc>
              <a:spcBef>
                <a:spcPts val="1200"/>
              </a:spcBef>
              <a:spcAft>
                <a:spcPts val="0"/>
              </a:spcAft>
              <a:buNone/>
            </a:pPr>
            <a:r>
              <a:t/>
            </a:r>
            <a:endParaRPr b="1" sz="800">
              <a:solidFill>
                <a:schemeClr val="dk1"/>
              </a:solidFill>
              <a:latin typeface="Oswald"/>
              <a:ea typeface="Oswald"/>
              <a:cs typeface="Oswald"/>
              <a:sym typeface="Oswald"/>
            </a:endParaRPr>
          </a:p>
          <a:p>
            <a:pPr indent="0" lvl="0" marL="0" rtl="0" algn="ctr">
              <a:lnSpc>
                <a:spcPct val="115000"/>
              </a:lnSpc>
              <a:spcBef>
                <a:spcPts val="1200"/>
              </a:spcBef>
              <a:spcAft>
                <a:spcPts val="0"/>
              </a:spcAft>
              <a:buNone/>
            </a:pPr>
            <a:r>
              <a:t/>
            </a:r>
            <a:endParaRPr b="1" sz="800">
              <a:solidFill>
                <a:schemeClr val="dk1"/>
              </a:solidFill>
              <a:latin typeface="Oswald"/>
              <a:ea typeface="Oswald"/>
              <a:cs typeface="Oswald"/>
              <a:sym typeface="Oswald"/>
            </a:endParaRPr>
          </a:p>
          <a:p>
            <a:pPr indent="0" lvl="0" marL="0" rtl="0" algn="ctr">
              <a:lnSpc>
                <a:spcPct val="115000"/>
              </a:lnSpc>
              <a:spcBef>
                <a:spcPts val="1200"/>
              </a:spcBef>
              <a:spcAft>
                <a:spcPts val="1200"/>
              </a:spcAft>
              <a:buNone/>
            </a:pPr>
            <a:r>
              <a:rPr b="1" lang="en" sz="800">
                <a:solidFill>
                  <a:schemeClr val="dk1"/>
                </a:solidFill>
                <a:latin typeface="Oswald"/>
                <a:ea typeface="Oswald"/>
                <a:cs typeface="Oswald"/>
                <a:sym typeface="Oswald"/>
              </a:rPr>
              <a:t>Interactive frontend displays maps, hazard data, and analysis results through API requests.</a:t>
            </a:r>
            <a:endParaRPr b="1" sz="800">
              <a:solidFill>
                <a:schemeClr val="dk1"/>
              </a:solidFill>
              <a:latin typeface="Oswald"/>
              <a:ea typeface="Oswald"/>
              <a:cs typeface="Oswald"/>
              <a:sym typeface="Oswald"/>
            </a:endParaRPr>
          </a:p>
        </p:txBody>
      </p:sp>
      <p:sp>
        <p:nvSpPr>
          <p:cNvPr id="90" name="Google Shape;90;p16"/>
          <p:cNvSpPr/>
          <p:nvPr/>
        </p:nvSpPr>
        <p:spPr>
          <a:xfrm>
            <a:off x="3325800" y="1427775"/>
            <a:ext cx="2682900" cy="2638800"/>
          </a:xfrm>
          <a:prstGeom prst="roundRect">
            <a:avLst>
              <a:gd fmla="val 16667" name="adj"/>
            </a:avLst>
          </a:prstGeom>
          <a:solidFill>
            <a:srgbClr val="0F1F36"/>
          </a:solidFill>
          <a:ln cap="flat" cmpd="sng" w="12700">
            <a:solidFill>
              <a:srgbClr val="38BDF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ctr">
              <a:lnSpc>
                <a:spcPct val="115000"/>
              </a:lnSpc>
              <a:spcBef>
                <a:spcPts val="0"/>
              </a:spcBef>
              <a:spcAft>
                <a:spcPts val="0"/>
              </a:spcAft>
              <a:buNone/>
            </a:pPr>
            <a:r>
              <a:rPr b="1" lang="en" sz="1100">
                <a:solidFill>
                  <a:schemeClr val="dk1"/>
                </a:solidFill>
                <a:latin typeface="Oswald"/>
                <a:ea typeface="Oswald"/>
                <a:cs typeface="Oswald"/>
                <a:sym typeface="Oswald"/>
              </a:rPr>
              <a:t>Application Layer</a:t>
            </a:r>
            <a:endParaRPr b="1" sz="1100">
              <a:solidFill>
                <a:schemeClr val="dk1"/>
              </a:solidFill>
              <a:latin typeface="Oswald"/>
              <a:ea typeface="Oswald"/>
              <a:cs typeface="Oswald"/>
              <a:sym typeface="Oswald"/>
            </a:endParaRPr>
          </a:p>
          <a:p>
            <a:pPr indent="0" lvl="0" marL="0" rtl="0" algn="ctr">
              <a:lnSpc>
                <a:spcPct val="115000"/>
              </a:lnSpc>
              <a:spcBef>
                <a:spcPts val="1200"/>
              </a:spcBef>
              <a:spcAft>
                <a:spcPts val="0"/>
              </a:spcAft>
              <a:buNone/>
            </a:pPr>
            <a:r>
              <a:t/>
            </a:r>
            <a:endParaRPr b="1" sz="800">
              <a:solidFill>
                <a:schemeClr val="dk1"/>
              </a:solidFill>
              <a:latin typeface="Oswald"/>
              <a:ea typeface="Oswald"/>
              <a:cs typeface="Oswald"/>
              <a:sym typeface="Oswald"/>
            </a:endParaRPr>
          </a:p>
          <a:p>
            <a:pPr indent="0" lvl="0" marL="0" rtl="0" algn="ctr">
              <a:lnSpc>
                <a:spcPct val="115000"/>
              </a:lnSpc>
              <a:spcBef>
                <a:spcPts val="1200"/>
              </a:spcBef>
              <a:spcAft>
                <a:spcPts val="0"/>
              </a:spcAft>
              <a:buNone/>
            </a:pPr>
            <a:r>
              <a:t/>
            </a:r>
            <a:endParaRPr b="1" sz="800">
              <a:solidFill>
                <a:schemeClr val="dk1"/>
              </a:solidFill>
              <a:latin typeface="Oswald"/>
              <a:ea typeface="Oswald"/>
              <a:cs typeface="Oswald"/>
              <a:sym typeface="Oswald"/>
            </a:endParaRPr>
          </a:p>
          <a:p>
            <a:pPr indent="0" lvl="0" marL="0" rtl="0" algn="ctr">
              <a:lnSpc>
                <a:spcPct val="115000"/>
              </a:lnSpc>
              <a:spcBef>
                <a:spcPts val="1200"/>
              </a:spcBef>
              <a:spcAft>
                <a:spcPts val="1200"/>
              </a:spcAft>
              <a:buNone/>
            </a:pPr>
            <a:r>
              <a:rPr b="1" lang="en" sz="800">
                <a:solidFill>
                  <a:schemeClr val="dk1"/>
                </a:solidFill>
                <a:latin typeface="Oswald"/>
                <a:ea typeface="Oswald"/>
                <a:cs typeface="Oswald"/>
                <a:sym typeface="Oswald"/>
              </a:rPr>
              <a:t>Flask controllers and services orchestrate data retrieval, hazard analysis, map layers, recommendations and exports</a:t>
            </a:r>
            <a:endParaRPr b="1" sz="800">
              <a:solidFill>
                <a:schemeClr val="dk1"/>
              </a:solidFill>
              <a:latin typeface="Oswald"/>
              <a:ea typeface="Oswald"/>
              <a:cs typeface="Oswald"/>
              <a:sym typeface="Oswald"/>
            </a:endParaRPr>
          </a:p>
        </p:txBody>
      </p:sp>
      <p:sp>
        <p:nvSpPr>
          <p:cNvPr id="91" name="Google Shape;91;p16"/>
          <p:cNvSpPr/>
          <p:nvPr/>
        </p:nvSpPr>
        <p:spPr>
          <a:xfrm>
            <a:off x="6561800" y="1412925"/>
            <a:ext cx="2477100" cy="2668500"/>
          </a:xfrm>
          <a:prstGeom prst="roundRect">
            <a:avLst>
              <a:gd fmla="val 16667" name="adj"/>
            </a:avLst>
          </a:prstGeom>
          <a:solidFill>
            <a:srgbClr val="0F1F36"/>
          </a:solidFill>
          <a:ln cap="flat" cmpd="sng" w="12700">
            <a:solidFill>
              <a:srgbClr val="38BDF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ctr">
              <a:lnSpc>
                <a:spcPct val="115000"/>
              </a:lnSpc>
              <a:spcBef>
                <a:spcPts val="0"/>
              </a:spcBef>
              <a:spcAft>
                <a:spcPts val="0"/>
              </a:spcAft>
              <a:buNone/>
            </a:pPr>
            <a:r>
              <a:rPr b="1" lang="en" sz="1100">
                <a:solidFill>
                  <a:schemeClr val="dk1"/>
                </a:solidFill>
                <a:latin typeface="Oswald"/>
                <a:ea typeface="Oswald"/>
                <a:cs typeface="Oswald"/>
                <a:sym typeface="Oswald"/>
              </a:rPr>
              <a:t>Persistence Layer</a:t>
            </a:r>
            <a:endParaRPr b="1" sz="1100">
              <a:solidFill>
                <a:schemeClr val="dk1"/>
              </a:solidFill>
              <a:latin typeface="Oswald"/>
              <a:ea typeface="Oswald"/>
              <a:cs typeface="Oswald"/>
              <a:sym typeface="Oswald"/>
            </a:endParaRPr>
          </a:p>
          <a:p>
            <a:pPr indent="0" lvl="0" marL="0" rtl="0" algn="ctr">
              <a:lnSpc>
                <a:spcPct val="115000"/>
              </a:lnSpc>
              <a:spcBef>
                <a:spcPts val="1200"/>
              </a:spcBef>
              <a:spcAft>
                <a:spcPts val="0"/>
              </a:spcAft>
              <a:buNone/>
            </a:pPr>
            <a:r>
              <a:t/>
            </a:r>
            <a:endParaRPr b="1" sz="800">
              <a:solidFill>
                <a:schemeClr val="dk1"/>
              </a:solidFill>
              <a:latin typeface="Oswald"/>
              <a:ea typeface="Oswald"/>
              <a:cs typeface="Oswald"/>
              <a:sym typeface="Oswald"/>
            </a:endParaRPr>
          </a:p>
          <a:p>
            <a:pPr indent="0" lvl="0" marL="0" rtl="0" algn="ctr">
              <a:lnSpc>
                <a:spcPct val="115000"/>
              </a:lnSpc>
              <a:spcBef>
                <a:spcPts val="1200"/>
              </a:spcBef>
              <a:spcAft>
                <a:spcPts val="0"/>
              </a:spcAft>
              <a:buNone/>
            </a:pPr>
            <a:r>
              <a:t/>
            </a:r>
            <a:endParaRPr b="1" sz="800">
              <a:solidFill>
                <a:schemeClr val="dk1"/>
              </a:solidFill>
              <a:latin typeface="Oswald"/>
              <a:ea typeface="Oswald"/>
              <a:cs typeface="Oswald"/>
              <a:sym typeface="Oswald"/>
            </a:endParaRPr>
          </a:p>
          <a:p>
            <a:pPr indent="0" lvl="0" marL="0" rtl="0" algn="ctr">
              <a:lnSpc>
                <a:spcPct val="115000"/>
              </a:lnSpc>
              <a:spcBef>
                <a:spcPts val="1200"/>
              </a:spcBef>
              <a:spcAft>
                <a:spcPts val="1200"/>
              </a:spcAft>
              <a:buNone/>
            </a:pPr>
            <a:r>
              <a:rPr b="1" lang="en" sz="800">
                <a:solidFill>
                  <a:schemeClr val="dk1"/>
                </a:solidFill>
                <a:latin typeface="Oswald"/>
                <a:ea typeface="Oswald"/>
                <a:cs typeface="Oswald"/>
                <a:sym typeface="Oswald"/>
              </a:rPr>
              <a:t>SQLAlchemy/DAO layer stores users, locations, hazard data, analyses, sessions and reports in PostgreSQL/PostGIS</a:t>
            </a:r>
            <a:endParaRPr b="1" sz="800">
              <a:solidFill>
                <a:schemeClr val="dk1"/>
              </a:solidFill>
              <a:latin typeface="Oswald"/>
              <a:ea typeface="Oswald"/>
              <a:cs typeface="Oswald"/>
              <a:sym typeface="Oswald"/>
            </a:endParaRPr>
          </a:p>
        </p:txBody>
      </p:sp>
      <p:cxnSp>
        <p:nvCxnSpPr>
          <p:cNvPr id="92" name="Google Shape;92;p16"/>
          <p:cNvCxnSpPr>
            <a:stCxn id="89" idx="3"/>
            <a:endCxn id="90" idx="1"/>
          </p:cNvCxnSpPr>
          <p:nvPr/>
        </p:nvCxnSpPr>
        <p:spPr>
          <a:xfrm>
            <a:off x="2772700" y="2747175"/>
            <a:ext cx="553200" cy="0"/>
          </a:xfrm>
          <a:prstGeom prst="straightConnector1">
            <a:avLst/>
          </a:prstGeom>
          <a:noFill/>
          <a:ln cap="flat" cmpd="sng" w="9525">
            <a:solidFill>
              <a:srgbClr val="38BDF8"/>
            </a:solidFill>
            <a:prstDash val="solid"/>
            <a:round/>
            <a:headEnd len="med" w="med" type="none"/>
            <a:tailEnd len="med" w="med" type="triangle"/>
          </a:ln>
        </p:spPr>
      </p:cxnSp>
      <p:cxnSp>
        <p:nvCxnSpPr>
          <p:cNvPr id="93" name="Google Shape;93;p16"/>
          <p:cNvCxnSpPr>
            <a:stCxn id="90" idx="3"/>
            <a:endCxn id="91" idx="1"/>
          </p:cNvCxnSpPr>
          <p:nvPr/>
        </p:nvCxnSpPr>
        <p:spPr>
          <a:xfrm>
            <a:off x="6008700" y="2747175"/>
            <a:ext cx="553200" cy="0"/>
          </a:xfrm>
          <a:prstGeom prst="straightConnector1">
            <a:avLst/>
          </a:prstGeom>
          <a:noFill/>
          <a:ln cap="flat" cmpd="sng" w="9525">
            <a:solidFill>
              <a:srgbClr val="38BDF8"/>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F20"/>
        </a:solidFill>
      </p:bgPr>
    </p:bg>
    <p:spTree>
      <p:nvGrpSpPr>
        <p:cNvPr id="97" name="Shape 97"/>
        <p:cNvGrpSpPr/>
        <p:nvPr/>
      </p:nvGrpSpPr>
      <p:grpSpPr>
        <a:xfrm>
          <a:off x="0" y="0"/>
          <a:ext cx="0" cy="0"/>
          <a:chOff x="0" y="0"/>
          <a:chExt cx="0" cy="0"/>
        </a:xfrm>
      </p:grpSpPr>
      <p:sp>
        <p:nvSpPr>
          <p:cNvPr id="98" name="Google Shape;98;p17"/>
          <p:cNvSpPr/>
          <p:nvPr/>
        </p:nvSpPr>
        <p:spPr>
          <a:xfrm>
            <a:off x="4723500" y="712975"/>
            <a:ext cx="4049400" cy="3968100"/>
          </a:xfrm>
          <a:prstGeom prst="rect">
            <a:avLst/>
          </a:prstGeom>
          <a:solidFill>
            <a:srgbClr val="0F1F3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99" name="Google Shape;99;p17"/>
          <p:cNvSpPr txBox="1"/>
          <p:nvPr>
            <p:ph type="title"/>
          </p:nvPr>
        </p:nvSpPr>
        <p:spPr>
          <a:xfrm>
            <a:off x="115850" y="195775"/>
            <a:ext cx="5371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Statechart Diagrams</a:t>
            </a:r>
            <a:endParaRPr/>
          </a:p>
        </p:txBody>
      </p:sp>
      <p:pic>
        <p:nvPicPr>
          <p:cNvPr id="100" name="Google Shape;100;p17"/>
          <p:cNvPicPr preferRelativeResize="0"/>
          <p:nvPr/>
        </p:nvPicPr>
        <p:blipFill>
          <a:blip r:embed="rId3">
            <a:alphaModFix/>
          </a:blip>
          <a:stretch>
            <a:fillRect/>
          </a:stretch>
        </p:blipFill>
        <p:spPr>
          <a:xfrm>
            <a:off x="4825138" y="786525"/>
            <a:ext cx="3846124" cy="3820976"/>
          </a:xfrm>
          <a:prstGeom prst="rect">
            <a:avLst/>
          </a:prstGeom>
          <a:noFill/>
          <a:ln>
            <a:noFill/>
          </a:ln>
        </p:spPr>
      </p:pic>
      <p:sp>
        <p:nvSpPr>
          <p:cNvPr id="101" name="Google Shape;101;p17"/>
          <p:cNvSpPr txBox="1"/>
          <p:nvPr/>
        </p:nvSpPr>
        <p:spPr>
          <a:xfrm>
            <a:off x="115850" y="1988250"/>
            <a:ext cx="45351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accent3"/>
                </a:solidFill>
                <a:latin typeface="Average"/>
                <a:ea typeface="Average"/>
                <a:cs typeface="Average"/>
                <a:sym typeface="Average"/>
              </a:rPr>
              <a:t>This diagram represents the dynamic workflow of the GAD system during user interaction. It shows how the application transitions between states such as location input, data retrieval, risk calculation, result generation, report exporting, and system exit while managing external API requests, caching, and user-driven actions</a:t>
            </a:r>
            <a:endParaRPr sz="1500">
              <a:solidFill>
                <a:schemeClr val="accent3"/>
              </a:solidFill>
              <a:latin typeface="Average"/>
              <a:ea typeface="Average"/>
              <a:cs typeface="Average"/>
              <a:sym typeface="Average"/>
            </a:endParaRPr>
          </a:p>
        </p:txBody>
      </p:sp>
      <p:sp>
        <p:nvSpPr>
          <p:cNvPr id="102" name="Google Shape;102;p1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F20"/>
        </a:solidFill>
      </p:bgPr>
    </p:bg>
    <p:spTree>
      <p:nvGrpSpPr>
        <p:cNvPr id="106" name="Shape 106"/>
        <p:cNvGrpSpPr/>
        <p:nvPr/>
      </p:nvGrpSpPr>
      <p:grpSpPr>
        <a:xfrm>
          <a:off x="0" y="0"/>
          <a:ext cx="0" cy="0"/>
          <a:chOff x="0" y="0"/>
          <a:chExt cx="0" cy="0"/>
        </a:xfrm>
      </p:grpSpPr>
      <p:sp>
        <p:nvSpPr>
          <p:cNvPr id="107" name="Google Shape;10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External API &amp; Data Source</a:t>
            </a:r>
            <a:endParaRPr/>
          </a:p>
        </p:txBody>
      </p:sp>
      <p:sp>
        <p:nvSpPr>
          <p:cNvPr id="108" name="Google Shape;108;p1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9" name="Google Shape;109;p18"/>
          <p:cNvSpPr txBox="1"/>
          <p:nvPr>
            <p:ph idx="1" type="body"/>
          </p:nvPr>
        </p:nvSpPr>
        <p:spPr>
          <a:xfrm>
            <a:off x="4817050" y="313600"/>
            <a:ext cx="4221900" cy="497100"/>
          </a:xfrm>
          <a:prstGeom prst="rect">
            <a:avLst/>
          </a:prstGeom>
        </p:spPr>
        <p:txBody>
          <a:bodyPr anchorCtr="0" anchor="t" bIns="91425" lIns="91425" spcFirstLastPara="1" rIns="91425" wrap="square" tIns="91425">
            <a:normAutofit fontScale="40000"/>
          </a:bodyPr>
          <a:lstStyle/>
          <a:p>
            <a:pPr indent="457200" lvl="0" marL="0" rtl="0" algn="l">
              <a:spcBef>
                <a:spcPts val="0"/>
              </a:spcBef>
              <a:spcAft>
                <a:spcPts val="0"/>
              </a:spcAft>
              <a:buNone/>
            </a:pPr>
            <a:r>
              <a:rPr lang="en" sz="1200"/>
              <a:t>Forward and Reverse Geocoding</a:t>
            </a:r>
            <a:endParaRPr sz="1200"/>
          </a:p>
          <a:p>
            <a:pPr indent="0" lvl="0" marL="0" rtl="0" algn="l">
              <a:spcBef>
                <a:spcPts val="1200"/>
              </a:spcBef>
              <a:spcAft>
                <a:spcPts val="1200"/>
              </a:spcAft>
              <a:buNone/>
            </a:pPr>
            <a:r>
              <a:t/>
            </a:r>
            <a:endParaRPr sz="1200"/>
          </a:p>
        </p:txBody>
      </p:sp>
      <p:sp>
        <p:nvSpPr>
          <p:cNvPr id="110" name="Google Shape;110;p18"/>
          <p:cNvSpPr/>
          <p:nvPr/>
        </p:nvSpPr>
        <p:spPr>
          <a:xfrm>
            <a:off x="1876950" y="1477850"/>
            <a:ext cx="1062300" cy="361800"/>
          </a:xfrm>
          <a:prstGeom prst="roundRect">
            <a:avLst>
              <a:gd fmla="val 16667" name="adj"/>
            </a:avLst>
          </a:prstGeom>
          <a:solidFill>
            <a:srgbClr val="0F1F36"/>
          </a:solidFill>
          <a:ln cap="flat" cmpd="sng" w="12700">
            <a:solidFill>
              <a:srgbClr val="38BDF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l">
              <a:lnSpc>
                <a:spcPct val="115000"/>
              </a:lnSpc>
              <a:spcBef>
                <a:spcPts val="0"/>
              </a:spcBef>
              <a:spcAft>
                <a:spcPts val="1200"/>
              </a:spcAft>
              <a:buNone/>
            </a:pPr>
            <a:r>
              <a:rPr lang="en" sz="1200">
                <a:solidFill>
                  <a:schemeClr val="accent3"/>
                </a:solidFill>
                <a:latin typeface="Average"/>
                <a:ea typeface="Average"/>
                <a:cs typeface="Average"/>
                <a:sym typeface="Average"/>
              </a:rPr>
              <a:t> </a:t>
            </a:r>
            <a:r>
              <a:rPr lang="en" sz="1200">
                <a:solidFill>
                  <a:schemeClr val="accent3"/>
                </a:solidFill>
                <a:latin typeface="Average"/>
                <a:ea typeface="Average"/>
                <a:cs typeface="Average"/>
                <a:sym typeface="Average"/>
              </a:rPr>
              <a:t>NWS API </a:t>
            </a:r>
            <a:endParaRPr sz="1200">
              <a:solidFill>
                <a:schemeClr val="accent3"/>
              </a:solidFill>
              <a:latin typeface="Average"/>
              <a:ea typeface="Average"/>
              <a:cs typeface="Average"/>
              <a:sym typeface="Average"/>
            </a:endParaRPr>
          </a:p>
        </p:txBody>
      </p:sp>
      <p:sp>
        <p:nvSpPr>
          <p:cNvPr id="111" name="Google Shape;111;p18"/>
          <p:cNvSpPr/>
          <p:nvPr/>
        </p:nvSpPr>
        <p:spPr>
          <a:xfrm rot="932">
            <a:off x="726450" y="2272538"/>
            <a:ext cx="2212800" cy="393000"/>
          </a:xfrm>
          <a:prstGeom prst="roundRect">
            <a:avLst>
              <a:gd fmla="val 16667" name="adj"/>
            </a:avLst>
          </a:prstGeom>
          <a:solidFill>
            <a:srgbClr val="0F1F36"/>
          </a:solidFill>
          <a:ln cap="flat" cmpd="sng" w="12700">
            <a:solidFill>
              <a:srgbClr val="38BDF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l">
              <a:lnSpc>
                <a:spcPct val="115000"/>
              </a:lnSpc>
              <a:spcBef>
                <a:spcPts val="0"/>
              </a:spcBef>
              <a:spcAft>
                <a:spcPts val="0"/>
              </a:spcAft>
              <a:buNone/>
            </a:pPr>
            <a:r>
              <a:rPr lang="en" sz="1200">
                <a:solidFill>
                  <a:schemeClr val="accent3"/>
                </a:solidFill>
                <a:latin typeface="Average"/>
                <a:ea typeface="Average"/>
                <a:cs typeface="Average"/>
                <a:sym typeface="Average"/>
              </a:rPr>
              <a:t> </a:t>
            </a:r>
            <a:endParaRPr sz="1200">
              <a:solidFill>
                <a:schemeClr val="accent3"/>
              </a:solidFill>
              <a:latin typeface="Average"/>
              <a:ea typeface="Average"/>
              <a:cs typeface="Average"/>
              <a:sym typeface="Average"/>
            </a:endParaRPr>
          </a:p>
          <a:p>
            <a:pPr indent="0" lvl="0" marL="0" rtl="0" algn="l">
              <a:lnSpc>
                <a:spcPct val="115000"/>
              </a:lnSpc>
              <a:spcBef>
                <a:spcPts val="1200"/>
              </a:spcBef>
              <a:spcAft>
                <a:spcPts val="0"/>
              </a:spcAft>
              <a:buNone/>
            </a:pPr>
            <a:r>
              <a:rPr lang="en" sz="1200">
                <a:solidFill>
                  <a:schemeClr val="accent3"/>
                </a:solidFill>
                <a:latin typeface="Average"/>
                <a:ea typeface="Average"/>
                <a:cs typeface="Average"/>
                <a:sym typeface="Average"/>
              </a:rPr>
              <a:t>Openstreetmap Nominatim</a:t>
            </a:r>
            <a:endParaRPr sz="1200">
              <a:solidFill>
                <a:schemeClr val="accent3"/>
              </a:solidFill>
              <a:latin typeface="Average"/>
              <a:ea typeface="Average"/>
              <a:cs typeface="Average"/>
              <a:sym typeface="Average"/>
            </a:endParaRPr>
          </a:p>
          <a:p>
            <a:pPr indent="0" lvl="0" marL="0" rtl="0" algn="l">
              <a:lnSpc>
                <a:spcPct val="115000"/>
              </a:lnSpc>
              <a:spcBef>
                <a:spcPts val="1200"/>
              </a:spcBef>
              <a:spcAft>
                <a:spcPts val="1200"/>
              </a:spcAft>
              <a:buNone/>
            </a:pPr>
            <a:r>
              <a:t/>
            </a:r>
            <a:endParaRPr sz="1200">
              <a:solidFill>
                <a:schemeClr val="accent3"/>
              </a:solidFill>
              <a:latin typeface="Average"/>
              <a:ea typeface="Average"/>
              <a:cs typeface="Average"/>
              <a:sym typeface="Average"/>
            </a:endParaRPr>
          </a:p>
        </p:txBody>
      </p:sp>
      <p:sp>
        <p:nvSpPr>
          <p:cNvPr id="112" name="Google Shape;112;p18"/>
          <p:cNvSpPr/>
          <p:nvPr/>
        </p:nvSpPr>
        <p:spPr>
          <a:xfrm>
            <a:off x="1216950" y="3098450"/>
            <a:ext cx="1722300" cy="393600"/>
          </a:xfrm>
          <a:prstGeom prst="roundRect">
            <a:avLst>
              <a:gd fmla="val 16667" name="adj"/>
            </a:avLst>
          </a:prstGeom>
          <a:solidFill>
            <a:srgbClr val="0F1F36"/>
          </a:solidFill>
          <a:ln cap="flat" cmpd="sng" w="12700">
            <a:solidFill>
              <a:srgbClr val="38BDF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l">
              <a:lnSpc>
                <a:spcPct val="115000"/>
              </a:lnSpc>
              <a:spcBef>
                <a:spcPts val="0"/>
              </a:spcBef>
              <a:spcAft>
                <a:spcPts val="1200"/>
              </a:spcAft>
              <a:buClr>
                <a:srgbClr val="000000"/>
              </a:buClr>
              <a:buSzPts val="1018"/>
              <a:buFont typeface="Arial"/>
              <a:buNone/>
            </a:pPr>
            <a:r>
              <a:rPr lang="en" sz="1265">
                <a:solidFill>
                  <a:schemeClr val="accent3"/>
                </a:solidFill>
                <a:latin typeface="Average"/>
                <a:ea typeface="Average"/>
                <a:cs typeface="Average"/>
                <a:sym typeface="Average"/>
              </a:rPr>
              <a:t>USGS Elevation API</a:t>
            </a:r>
            <a:endParaRPr sz="1200">
              <a:solidFill>
                <a:schemeClr val="accent3"/>
              </a:solidFill>
              <a:latin typeface="Average"/>
              <a:ea typeface="Average"/>
              <a:cs typeface="Average"/>
              <a:sym typeface="Average"/>
            </a:endParaRPr>
          </a:p>
        </p:txBody>
      </p:sp>
      <p:sp>
        <p:nvSpPr>
          <p:cNvPr id="113" name="Google Shape;113;p18"/>
          <p:cNvSpPr/>
          <p:nvPr/>
        </p:nvSpPr>
        <p:spPr>
          <a:xfrm>
            <a:off x="1267650" y="3941275"/>
            <a:ext cx="1671600" cy="393600"/>
          </a:xfrm>
          <a:prstGeom prst="roundRect">
            <a:avLst>
              <a:gd fmla="val 16667" name="adj"/>
            </a:avLst>
          </a:prstGeom>
          <a:solidFill>
            <a:srgbClr val="0F1F36"/>
          </a:solidFill>
          <a:ln cap="flat" cmpd="sng" w="12700">
            <a:solidFill>
              <a:srgbClr val="38BDF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l">
              <a:lnSpc>
                <a:spcPct val="115000"/>
              </a:lnSpc>
              <a:spcBef>
                <a:spcPts val="0"/>
              </a:spcBef>
              <a:spcAft>
                <a:spcPts val="1200"/>
              </a:spcAft>
              <a:buClr>
                <a:srgbClr val="000000"/>
              </a:buClr>
              <a:buSzPts val="1018"/>
              <a:buFont typeface="Arial"/>
              <a:buNone/>
            </a:pPr>
            <a:r>
              <a:rPr lang="en" sz="1265">
                <a:solidFill>
                  <a:schemeClr val="accent3"/>
                </a:solidFill>
                <a:latin typeface="Average"/>
                <a:ea typeface="Average"/>
                <a:cs typeface="Average"/>
                <a:sym typeface="Average"/>
              </a:rPr>
              <a:t>FEMA NFHL / NRI</a:t>
            </a:r>
            <a:endParaRPr sz="1200">
              <a:solidFill>
                <a:schemeClr val="accent3"/>
              </a:solidFill>
              <a:latin typeface="Average"/>
              <a:ea typeface="Average"/>
              <a:cs typeface="Average"/>
              <a:sym typeface="Average"/>
            </a:endParaRPr>
          </a:p>
        </p:txBody>
      </p:sp>
      <p:sp>
        <p:nvSpPr>
          <p:cNvPr id="114" name="Google Shape;114;p18"/>
          <p:cNvSpPr/>
          <p:nvPr/>
        </p:nvSpPr>
        <p:spPr>
          <a:xfrm>
            <a:off x="4380800" y="1461925"/>
            <a:ext cx="3399000" cy="393600"/>
          </a:xfrm>
          <a:prstGeom prst="roundRect">
            <a:avLst>
              <a:gd fmla="val 16667" name="adj"/>
            </a:avLst>
          </a:prstGeom>
          <a:solidFill>
            <a:srgbClr val="0F1F36"/>
          </a:solidFill>
          <a:ln cap="flat" cmpd="sng" w="12700">
            <a:solidFill>
              <a:srgbClr val="22C55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l">
              <a:lnSpc>
                <a:spcPct val="115000"/>
              </a:lnSpc>
              <a:spcBef>
                <a:spcPts val="0"/>
              </a:spcBef>
              <a:spcAft>
                <a:spcPts val="1200"/>
              </a:spcAft>
              <a:buNone/>
            </a:pPr>
            <a:r>
              <a:rPr lang="en" sz="1200">
                <a:solidFill>
                  <a:schemeClr val="accent3"/>
                </a:solidFill>
                <a:latin typeface="Average"/>
                <a:ea typeface="Average"/>
                <a:cs typeface="Average"/>
                <a:sym typeface="Average"/>
              </a:rPr>
              <a:t>Forecast, active weather alerts, country zone IDs</a:t>
            </a:r>
            <a:endParaRPr sz="1200">
              <a:solidFill>
                <a:schemeClr val="accent3"/>
              </a:solidFill>
              <a:latin typeface="Average"/>
              <a:ea typeface="Average"/>
              <a:cs typeface="Average"/>
              <a:sym typeface="Average"/>
            </a:endParaRPr>
          </a:p>
        </p:txBody>
      </p:sp>
      <p:sp>
        <p:nvSpPr>
          <p:cNvPr id="115" name="Google Shape;115;p18"/>
          <p:cNvSpPr/>
          <p:nvPr/>
        </p:nvSpPr>
        <p:spPr>
          <a:xfrm>
            <a:off x="4380800" y="2299725"/>
            <a:ext cx="2517600" cy="393600"/>
          </a:xfrm>
          <a:prstGeom prst="roundRect">
            <a:avLst>
              <a:gd fmla="val 16667" name="adj"/>
            </a:avLst>
          </a:prstGeom>
          <a:solidFill>
            <a:srgbClr val="0F1F36"/>
          </a:solidFill>
          <a:ln cap="flat" cmpd="sng" w="12700">
            <a:solidFill>
              <a:srgbClr val="22C55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l">
              <a:lnSpc>
                <a:spcPct val="115000"/>
              </a:lnSpc>
              <a:spcBef>
                <a:spcPts val="0"/>
              </a:spcBef>
              <a:spcAft>
                <a:spcPts val="1200"/>
              </a:spcAft>
              <a:buNone/>
            </a:pPr>
            <a:r>
              <a:rPr lang="en" sz="1200">
                <a:solidFill>
                  <a:schemeClr val="accent3"/>
                </a:solidFill>
                <a:latin typeface="Average"/>
                <a:ea typeface="Average"/>
                <a:cs typeface="Average"/>
                <a:sym typeface="Average"/>
              </a:rPr>
              <a:t>Ground Elevation for site context</a:t>
            </a:r>
            <a:endParaRPr sz="1200">
              <a:solidFill>
                <a:schemeClr val="accent3"/>
              </a:solidFill>
              <a:latin typeface="Average"/>
              <a:ea typeface="Average"/>
              <a:cs typeface="Average"/>
              <a:sym typeface="Average"/>
            </a:endParaRPr>
          </a:p>
        </p:txBody>
      </p:sp>
      <p:sp>
        <p:nvSpPr>
          <p:cNvPr id="116" name="Google Shape;116;p18"/>
          <p:cNvSpPr/>
          <p:nvPr/>
        </p:nvSpPr>
        <p:spPr>
          <a:xfrm>
            <a:off x="4380800" y="3865125"/>
            <a:ext cx="3566700" cy="435900"/>
          </a:xfrm>
          <a:prstGeom prst="roundRect">
            <a:avLst>
              <a:gd fmla="val 16667" name="adj"/>
            </a:avLst>
          </a:prstGeom>
          <a:solidFill>
            <a:srgbClr val="0F1F36"/>
          </a:solidFill>
          <a:ln cap="flat" cmpd="sng" w="12700">
            <a:solidFill>
              <a:srgbClr val="22C55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l">
              <a:lnSpc>
                <a:spcPct val="115000"/>
              </a:lnSpc>
              <a:spcBef>
                <a:spcPts val="0"/>
              </a:spcBef>
              <a:spcAft>
                <a:spcPts val="0"/>
              </a:spcAft>
              <a:buNone/>
            </a:pPr>
            <a:r>
              <a:t/>
            </a:r>
            <a:endParaRPr sz="1200">
              <a:solidFill>
                <a:schemeClr val="accent3"/>
              </a:solidFill>
              <a:latin typeface="Average"/>
              <a:ea typeface="Average"/>
              <a:cs typeface="Average"/>
              <a:sym typeface="Average"/>
            </a:endParaRPr>
          </a:p>
          <a:p>
            <a:pPr indent="0" lvl="0" marL="0" rtl="0" algn="l">
              <a:lnSpc>
                <a:spcPct val="115000"/>
              </a:lnSpc>
              <a:spcBef>
                <a:spcPts val="1200"/>
              </a:spcBef>
              <a:spcAft>
                <a:spcPts val="0"/>
              </a:spcAft>
              <a:buNone/>
            </a:pPr>
            <a:r>
              <a:rPr lang="en" sz="1200">
                <a:solidFill>
                  <a:schemeClr val="accent3"/>
                </a:solidFill>
                <a:latin typeface="Average"/>
                <a:ea typeface="Average"/>
                <a:cs typeface="Average"/>
                <a:sym typeface="Average"/>
              </a:rPr>
              <a:t>Flood Zone and county-level hazard reference data </a:t>
            </a:r>
            <a:endParaRPr sz="1200">
              <a:solidFill>
                <a:schemeClr val="accent3"/>
              </a:solidFill>
              <a:latin typeface="Average"/>
              <a:ea typeface="Average"/>
              <a:cs typeface="Average"/>
              <a:sym typeface="Average"/>
            </a:endParaRPr>
          </a:p>
          <a:p>
            <a:pPr indent="0" lvl="0" marL="0" rtl="0" algn="l">
              <a:lnSpc>
                <a:spcPct val="115000"/>
              </a:lnSpc>
              <a:spcBef>
                <a:spcPts val="1200"/>
              </a:spcBef>
              <a:spcAft>
                <a:spcPts val="1200"/>
              </a:spcAft>
              <a:buNone/>
            </a:pPr>
            <a:r>
              <a:t/>
            </a:r>
            <a:endParaRPr sz="1200">
              <a:solidFill>
                <a:schemeClr val="accent3"/>
              </a:solidFill>
              <a:latin typeface="Average"/>
              <a:ea typeface="Average"/>
              <a:cs typeface="Average"/>
              <a:sym typeface="Average"/>
            </a:endParaRPr>
          </a:p>
        </p:txBody>
      </p:sp>
      <p:sp>
        <p:nvSpPr>
          <p:cNvPr id="117" name="Google Shape;117;p18"/>
          <p:cNvSpPr/>
          <p:nvPr/>
        </p:nvSpPr>
        <p:spPr>
          <a:xfrm>
            <a:off x="4380800" y="3114350"/>
            <a:ext cx="2424600" cy="361800"/>
          </a:xfrm>
          <a:prstGeom prst="roundRect">
            <a:avLst>
              <a:gd fmla="val 16667" name="adj"/>
            </a:avLst>
          </a:prstGeom>
          <a:solidFill>
            <a:srgbClr val="0F1F36"/>
          </a:solidFill>
          <a:ln cap="flat" cmpd="sng" w="12700">
            <a:solidFill>
              <a:srgbClr val="22C55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137150" spcFirstLastPara="1" rIns="137150" wrap="square" tIns="91425">
            <a:noAutofit/>
          </a:bodyPr>
          <a:lstStyle/>
          <a:p>
            <a:pPr indent="0" lvl="0" marL="0" rtl="0" algn="l">
              <a:lnSpc>
                <a:spcPct val="115000"/>
              </a:lnSpc>
              <a:spcBef>
                <a:spcPts val="0"/>
              </a:spcBef>
              <a:spcAft>
                <a:spcPts val="0"/>
              </a:spcAft>
              <a:buNone/>
            </a:pPr>
            <a:r>
              <a:t/>
            </a:r>
            <a:endParaRPr sz="1200">
              <a:solidFill>
                <a:schemeClr val="accent3"/>
              </a:solidFill>
              <a:latin typeface="Average"/>
              <a:ea typeface="Average"/>
              <a:cs typeface="Average"/>
              <a:sym typeface="Average"/>
            </a:endParaRPr>
          </a:p>
          <a:p>
            <a:pPr indent="0" lvl="0" marL="0" rtl="0" algn="l">
              <a:lnSpc>
                <a:spcPct val="115000"/>
              </a:lnSpc>
              <a:spcBef>
                <a:spcPts val="1200"/>
              </a:spcBef>
              <a:spcAft>
                <a:spcPts val="0"/>
              </a:spcAft>
              <a:buNone/>
            </a:pPr>
            <a:r>
              <a:rPr lang="en" sz="1200">
                <a:solidFill>
                  <a:schemeClr val="accent3"/>
                </a:solidFill>
                <a:latin typeface="Average"/>
                <a:ea typeface="Average"/>
                <a:cs typeface="Average"/>
                <a:sym typeface="Average"/>
              </a:rPr>
              <a:t>Forward and Reverse Geocoding</a:t>
            </a:r>
            <a:endParaRPr sz="1200">
              <a:solidFill>
                <a:schemeClr val="accent3"/>
              </a:solidFill>
              <a:latin typeface="Average"/>
              <a:ea typeface="Average"/>
              <a:cs typeface="Average"/>
              <a:sym typeface="Average"/>
            </a:endParaRPr>
          </a:p>
          <a:p>
            <a:pPr indent="0" lvl="0" marL="0" rtl="0" algn="l">
              <a:lnSpc>
                <a:spcPct val="115000"/>
              </a:lnSpc>
              <a:spcBef>
                <a:spcPts val="1200"/>
              </a:spcBef>
              <a:spcAft>
                <a:spcPts val="1200"/>
              </a:spcAft>
              <a:buNone/>
            </a:pPr>
            <a:r>
              <a:t/>
            </a:r>
            <a:endParaRPr sz="1200">
              <a:solidFill>
                <a:schemeClr val="accent3"/>
              </a:solidFill>
              <a:latin typeface="Average"/>
              <a:ea typeface="Average"/>
              <a:cs typeface="Average"/>
              <a:sym typeface="Average"/>
            </a:endParaRPr>
          </a:p>
        </p:txBody>
      </p:sp>
      <p:cxnSp>
        <p:nvCxnSpPr>
          <p:cNvPr id="118" name="Google Shape;118;p18"/>
          <p:cNvCxnSpPr/>
          <p:nvPr/>
        </p:nvCxnSpPr>
        <p:spPr>
          <a:xfrm>
            <a:off x="3150775" y="1658000"/>
            <a:ext cx="1103100" cy="1500"/>
          </a:xfrm>
          <a:prstGeom prst="straightConnector1">
            <a:avLst/>
          </a:prstGeom>
          <a:noFill/>
          <a:ln cap="flat" cmpd="sng" w="9525">
            <a:solidFill>
              <a:srgbClr val="38BDF8"/>
            </a:solidFill>
            <a:prstDash val="solid"/>
            <a:round/>
            <a:headEnd len="med" w="med" type="none"/>
            <a:tailEnd len="med" w="med" type="triangle"/>
          </a:ln>
        </p:spPr>
      </p:cxnSp>
      <p:cxnSp>
        <p:nvCxnSpPr>
          <p:cNvPr id="119" name="Google Shape;119;p18"/>
          <p:cNvCxnSpPr/>
          <p:nvPr/>
        </p:nvCxnSpPr>
        <p:spPr>
          <a:xfrm>
            <a:off x="3150775" y="2476250"/>
            <a:ext cx="1103100" cy="1500"/>
          </a:xfrm>
          <a:prstGeom prst="straightConnector1">
            <a:avLst/>
          </a:prstGeom>
          <a:noFill/>
          <a:ln cap="flat" cmpd="sng" w="9525">
            <a:solidFill>
              <a:srgbClr val="38BDF8"/>
            </a:solidFill>
            <a:prstDash val="solid"/>
            <a:round/>
            <a:headEnd len="med" w="med" type="none"/>
            <a:tailEnd len="med" w="med" type="triangle"/>
          </a:ln>
        </p:spPr>
      </p:cxnSp>
      <p:cxnSp>
        <p:nvCxnSpPr>
          <p:cNvPr id="120" name="Google Shape;120;p18"/>
          <p:cNvCxnSpPr/>
          <p:nvPr/>
        </p:nvCxnSpPr>
        <p:spPr>
          <a:xfrm>
            <a:off x="3150775" y="3294500"/>
            <a:ext cx="1103100" cy="1500"/>
          </a:xfrm>
          <a:prstGeom prst="straightConnector1">
            <a:avLst/>
          </a:prstGeom>
          <a:noFill/>
          <a:ln cap="flat" cmpd="sng" w="9525">
            <a:solidFill>
              <a:srgbClr val="38BDF8"/>
            </a:solidFill>
            <a:prstDash val="solid"/>
            <a:round/>
            <a:headEnd len="med" w="med" type="none"/>
            <a:tailEnd len="med" w="med" type="triangle"/>
          </a:ln>
        </p:spPr>
      </p:cxnSp>
      <p:cxnSp>
        <p:nvCxnSpPr>
          <p:cNvPr id="121" name="Google Shape;121;p18"/>
          <p:cNvCxnSpPr/>
          <p:nvPr/>
        </p:nvCxnSpPr>
        <p:spPr>
          <a:xfrm>
            <a:off x="3150775" y="4137325"/>
            <a:ext cx="1103100" cy="1500"/>
          </a:xfrm>
          <a:prstGeom prst="straightConnector1">
            <a:avLst/>
          </a:prstGeom>
          <a:noFill/>
          <a:ln cap="flat" cmpd="sng" w="9525">
            <a:solidFill>
              <a:srgbClr val="38BDF8"/>
            </a:solidFill>
            <a:prstDash val="solid"/>
            <a:round/>
            <a:headEnd len="med" w="med" type="none"/>
            <a:tailEnd len="med" w="med" type="triangle"/>
          </a:ln>
        </p:spPr>
      </p:cxnSp>
      <p:sp>
        <p:nvSpPr>
          <p:cNvPr id="122" name="Google Shape;122;p18"/>
          <p:cNvSpPr txBox="1"/>
          <p:nvPr/>
        </p:nvSpPr>
        <p:spPr>
          <a:xfrm>
            <a:off x="1340288" y="4382500"/>
            <a:ext cx="66072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38BDF8"/>
                </a:solidFill>
                <a:latin typeface="Oswald"/>
                <a:ea typeface="Oswald"/>
                <a:cs typeface="Oswald"/>
                <a:sym typeface="Oswald"/>
              </a:rPr>
              <a:t>▸</a:t>
            </a:r>
            <a:r>
              <a:rPr lang="en" sz="1200">
                <a:solidFill>
                  <a:schemeClr val="accent3"/>
                </a:solidFill>
                <a:latin typeface="Average"/>
                <a:ea typeface="Average"/>
                <a:cs typeface="Average"/>
                <a:sym typeface="Average"/>
              </a:rPr>
              <a:t>These external API’s are critical and </a:t>
            </a:r>
            <a:r>
              <a:rPr lang="en" sz="1200">
                <a:solidFill>
                  <a:schemeClr val="accent3"/>
                </a:solidFill>
                <a:latin typeface="Average"/>
                <a:ea typeface="Average"/>
                <a:cs typeface="Average"/>
                <a:sym typeface="Average"/>
              </a:rPr>
              <a:t>meaningful</a:t>
            </a:r>
            <a:r>
              <a:rPr lang="en" sz="1200">
                <a:solidFill>
                  <a:schemeClr val="accent3"/>
                </a:solidFill>
                <a:latin typeface="Average"/>
                <a:ea typeface="Average"/>
                <a:cs typeface="Average"/>
                <a:sym typeface="Average"/>
              </a:rPr>
              <a:t> for GAD as the risk </a:t>
            </a:r>
            <a:r>
              <a:rPr lang="en" sz="1200">
                <a:solidFill>
                  <a:schemeClr val="accent3"/>
                </a:solidFill>
                <a:latin typeface="Average"/>
                <a:ea typeface="Average"/>
                <a:cs typeface="Average"/>
                <a:sym typeface="Average"/>
              </a:rPr>
              <a:t>analysis</a:t>
            </a:r>
            <a:r>
              <a:rPr lang="en" sz="1200">
                <a:solidFill>
                  <a:schemeClr val="accent3"/>
                </a:solidFill>
                <a:latin typeface="Average"/>
                <a:ea typeface="Average"/>
                <a:cs typeface="Average"/>
                <a:sym typeface="Average"/>
              </a:rPr>
              <a:t> </a:t>
            </a:r>
            <a:r>
              <a:rPr lang="en" sz="1200">
                <a:solidFill>
                  <a:schemeClr val="accent3"/>
                </a:solidFill>
                <a:latin typeface="Average"/>
                <a:ea typeface="Average"/>
                <a:cs typeface="Average"/>
                <a:sym typeface="Average"/>
              </a:rPr>
              <a:t>provide live and authoritative environmental context, keeping users assessments up to date.</a:t>
            </a:r>
            <a:endParaRPr sz="1200">
              <a:solidFill>
                <a:schemeClr val="accent3"/>
              </a:solidFill>
              <a:latin typeface="Average"/>
              <a:ea typeface="Average"/>
              <a:cs typeface="Average"/>
              <a:sym typeface="Averag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F20"/>
        </a:solidFill>
      </p:bgPr>
    </p:bg>
    <p:spTree>
      <p:nvGrpSpPr>
        <p:cNvPr id="126" name="Shape 126"/>
        <p:cNvGrpSpPr/>
        <p:nvPr/>
      </p:nvGrpSpPr>
      <p:grpSpPr>
        <a:xfrm>
          <a:off x="0" y="0"/>
          <a:ext cx="0" cy="0"/>
          <a:chOff x="0" y="0"/>
          <a:chExt cx="0" cy="0"/>
        </a:xfrm>
      </p:grpSpPr>
      <p:sp>
        <p:nvSpPr>
          <p:cNvPr id="127" name="Google Shape;12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Acceptance</a:t>
            </a:r>
            <a:r>
              <a:rPr lang="en"/>
              <a:t> </a:t>
            </a:r>
            <a:r>
              <a:rPr lang="en"/>
              <a:t>Test Cases</a:t>
            </a:r>
            <a:endParaRPr/>
          </a:p>
        </p:txBody>
      </p:sp>
      <p:sp>
        <p:nvSpPr>
          <p:cNvPr id="128" name="Google Shape;128;p19"/>
          <p:cNvSpPr txBox="1"/>
          <p:nvPr>
            <p:ph idx="1" type="body"/>
          </p:nvPr>
        </p:nvSpPr>
        <p:spPr>
          <a:xfrm>
            <a:off x="311700" y="1152475"/>
            <a:ext cx="8520600" cy="2137200"/>
          </a:xfrm>
          <a:prstGeom prst="rect">
            <a:avLst/>
          </a:prstGeom>
        </p:spPr>
        <p:txBody>
          <a:bodyPr anchorCtr="0" anchor="t" bIns="91425" lIns="91425" spcFirstLastPara="1" rIns="91425" wrap="square" tIns="91425">
            <a:normAutofit/>
          </a:bodyPr>
          <a:lstStyle/>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 </a:t>
            </a:r>
            <a:r>
              <a:rPr lang="en">
                <a:solidFill>
                  <a:schemeClr val="dk1"/>
                </a:solidFill>
                <a:latin typeface="Oswald"/>
                <a:ea typeface="Oswald"/>
                <a:cs typeface="Oswald"/>
                <a:sym typeface="Oswald"/>
              </a:rPr>
              <a:t>Location Search: user enters a city/</a:t>
            </a:r>
            <a:r>
              <a:rPr lang="en">
                <a:solidFill>
                  <a:schemeClr val="dk1"/>
                </a:solidFill>
                <a:latin typeface="Oswald"/>
                <a:ea typeface="Oswald"/>
                <a:cs typeface="Oswald"/>
                <a:sym typeface="Oswald"/>
              </a:rPr>
              <a:t>address</a:t>
            </a:r>
            <a:r>
              <a:rPr lang="en">
                <a:solidFill>
                  <a:schemeClr val="dk1"/>
                </a:solidFill>
                <a:latin typeface="Oswald"/>
                <a:ea typeface="Oswald"/>
                <a:cs typeface="Oswald"/>
                <a:sym typeface="Oswald"/>
              </a:rPr>
              <a:t>, and </a:t>
            </a:r>
            <a:r>
              <a:rPr lang="en">
                <a:solidFill>
                  <a:schemeClr val="dk1"/>
                </a:solidFill>
                <a:latin typeface="Oswald"/>
                <a:ea typeface="Oswald"/>
                <a:cs typeface="Oswald"/>
                <a:sym typeface="Oswald"/>
              </a:rPr>
              <a:t>received matching locations.</a:t>
            </a:r>
            <a:endParaRPr>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 </a:t>
            </a:r>
            <a:r>
              <a:rPr lang="en">
                <a:solidFill>
                  <a:schemeClr val="dk1"/>
                </a:solidFill>
                <a:latin typeface="Oswald"/>
                <a:ea typeface="Oswald"/>
                <a:cs typeface="Oswald"/>
                <a:sym typeface="Oswald"/>
              </a:rPr>
              <a:t>Weather </a:t>
            </a:r>
            <a:r>
              <a:rPr lang="en">
                <a:solidFill>
                  <a:schemeClr val="dk1"/>
                </a:solidFill>
                <a:latin typeface="Oswald"/>
                <a:ea typeface="Oswald"/>
                <a:cs typeface="Oswald"/>
                <a:sym typeface="Oswald"/>
              </a:rPr>
              <a:t>Analysis</a:t>
            </a:r>
            <a:r>
              <a:rPr lang="en">
                <a:solidFill>
                  <a:schemeClr val="dk1"/>
                </a:solidFill>
                <a:latin typeface="Oswald"/>
                <a:ea typeface="Oswald"/>
                <a:cs typeface="Oswald"/>
                <a:sym typeface="Oswald"/>
              </a:rPr>
              <a:t>: selecting coordinates return forecast, alerts, scores, and site </a:t>
            </a:r>
            <a:r>
              <a:rPr lang="en">
                <a:solidFill>
                  <a:schemeClr val="dk1"/>
                </a:solidFill>
                <a:latin typeface="Oswald"/>
                <a:ea typeface="Oswald"/>
                <a:cs typeface="Oswald"/>
                <a:sym typeface="Oswald"/>
              </a:rPr>
              <a:t>context.</a:t>
            </a:r>
            <a:endParaRPr>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 </a:t>
            </a:r>
            <a:r>
              <a:rPr lang="en">
                <a:solidFill>
                  <a:schemeClr val="dk1"/>
                </a:solidFill>
                <a:latin typeface="Oswald"/>
                <a:ea typeface="Oswald"/>
                <a:cs typeface="Oswald"/>
                <a:sym typeface="Oswald"/>
              </a:rPr>
              <a:t>Risk DashBoard: </a:t>
            </a:r>
            <a:r>
              <a:rPr lang="en">
                <a:solidFill>
                  <a:schemeClr val="dk1"/>
                </a:solidFill>
                <a:latin typeface="Oswald"/>
                <a:ea typeface="Oswald"/>
                <a:cs typeface="Oswald"/>
                <a:sym typeface="Oswald"/>
              </a:rPr>
              <a:t>frontend displays composites scores, hazard breakdown , recommendations, and             .   history.  </a:t>
            </a:r>
            <a:endParaRPr>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 </a:t>
            </a:r>
            <a:r>
              <a:rPr lang="en">
                <a:solidFill>
                  <a:schemeClr val="dk1"/>
                </a:solidFill>
                <a:latin typeface="Oswald"/>
                <a:ea typeface="Oswald"/>
                <a:cs typeface="Oswald"/>
                <a:sym typeface="Oswald"/>
              </a:rPr>
              <a:t>Report Export: user exports the selected site </a:t>
            </a:r>
            <a:r>
              <a:rPr lang="en">
                <a:solidFill>
                  <a:schemeClr val="dk1"/>
                </a:solidFill>
                <a:latin typeface="Oswald"/>
                <a:ea typeface="Oswald"/>
                <a:cs typeface="Oswald"/>
                <a:sym typeface="Oswald"/>
              </a:rPr>
              <a:t>analysis</a:t>
            </a:r>
            <a:r>
              <a:rPr lang="en">
                <a:solidFill>
                  <a:schemeClr val="dk1"/>
                </a:solidFill>
                <a:latin typeface="Oswald"/>
                <a:ea typeface="Oswald"/>
                <a:cs typeface="Oswald"/>
                <a:sym typeface="Oswald"/>
              </a:rPr>
              <a:t> as PDF or CSV.</a:t>
            </a:r>
            <a:endParaRPr>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a:t>
            </a:r>
            <a:r>
              <a:rPr lang="en">
                <a:solidFill>
                  <a:schemeClr val="dk1"/>
                </a:solidFill>
                <a:latin typeface="Oswald"/>
                <a:ea typeface="Oswald"/>
                <a:cs typeface="Oswald"/>
                <a:sym typeface="Oswald"/>
              </a:rPr>
              <a:t> Failure handling:invalid coordinates, API failures, and export errors return clear messages.</a:t>
            </a:r>
            <a:endParaRPr>
              <a:solidFill>
                <a:schemeClr val="dk1"/>
              </a:solidFill>
              <a:latin typeface="Oswald"/>
              <a:ea typeface="Oswald"/>
              <a:cs typeface="Oswald"/>
              <a:sym typeface="Oswald"/>
            </a:endParaRPr>
          </a:p>
        </p:txBody>
      </p:sp>
      <p:sp>
        <p:nvSpPr>
          <p:cNvPr id="129" name="Google Shape;129;p1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F20"/>
        </a:solidFill>
      </p:bgPr>
    </p:bg>
    <p:spTree>
      <p:nvGrpSpPr>
        <p:cNvPr id="133" name="Shape 133"/>
        <p:cNvGrpSpPr/>
        <p:nvPr/>
      </p:nvGrpSpPr>
      <p:grpSpPr>
        <a:xfrm>
          <a:off x="0" y="0"/>
          <a:ext cx="0" cy="0"/>
          <a:chOff x="0" y="0"/>
          <a:chExt cx="0" cy="0"/>
        </a:xfrm>
      </p:grpSpPr>
      <p:sp>
        <p:nvSpPr>
          <p:cNvPr id="134" name="Google Shape;134;p20"/>
          <p:cNvSpPr txBox="1"/>
          <p:nvPr>
            <p:ph type="title"/>
          </p:nvPr>
        </p:nvSpPr>
        <p:spPr>
          <a:xfrm>
            <a:off x="330725" y="394200"/>
            <a:ext cx="5345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Improvements</a:t>
            </a:r>
            <a:endParaRPr/>
          </a:p>
        </p:txBody>
      </p:sp>
      <p:sp>
        <p:nvSpPr>
          <p:cNvPr id="135" name="Google Shape;135;p20"/>
          <p:cNvSpPr txBox="1"/>
          <p:nvPr>
            <p:ph idx="1" type="body"/>
          </p:nvPr>
        </p:nvSpPr>
        <p:spPr>
          <a:xfrm>
            <a:off x="483900" y="1264588"/>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a:t>
            </a:r>
            <a:r>
              <a:rPr lang="en">
                <a:solidFill>
                  <a:schemeClr val="dk1"/>
                </a:solidFill>
                <a:latin typeface="Oswald"/>
                <a:ea typeface="Oswald"/>
                <a:cs typeface="Oswald"/>
                <a:sym typeface="Oswald"/>
              </a:rPr>
              <a:t> Refactoring our code</a:t>
            </a:r>
            <a:endParaRPr>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a:t>
            </a:r>
            <a:r>
              <a:rPr lang="en">
                <a:solidFill>
                  <a:schemeClr val="dk1"/>
                </a:solidFill>
                <a:latin typeface="Oswald"/>
                <a:ea typeface="Oswald"/>
                <a:cs typeface="Oswald"/>
                <a:sym typeface="Oswald"/>
              </a:rPr>
              <a:t> User Profiles</a:t>
            </a:r>
            <a:endParaRPr>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a:t>
            </a:r>
            <a:r>
              <a:rPr lang="en">
                <a:solidFill>
                  <a:schemeClr val="dk1"/>
                </a:solidFill>
                <a:latin typeface="Oswald"/>
                <a:ea typeface="Oswald"/>
                <a:cs typeface="Oswald"/>
                <a:sym typeface="Oswald"/>
              </a:rPr>
              <a:t> </a:t>
            </a:r>
            <a:r>
              <a:rPr lang="en">
                <a:solidFill>
                  <a:schemeClr val="dk1"/>
                </a:solidFill>
                <a:latin typeface="Oswald"/>
                <a:ea typeface="Oswald"/>
                <a:cs typeface="Oswald"/>
                <a:sym typeface="Oswald"/>
              </a:rPr>
              <a:t>AI integration</a:t>
            </a:r>
            <a:endParaRPr sz="3200">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rPr lang="en">
                <a:solidFill>
                  <a:srgbClr val="38BDF8"/>
                </a:solidFill>
                <a:latin typeface="Oswald"/>
                <a:ea typeface="Oswald"/>
                <a:cs typeface="Oswald"/>
                <a:sym typeface="Oswald"/>
              </a:rPr>
              <a:t>▸</a:t>
            </a:r>
            <a:r>
              <a:rPr lang="en">
                <a:solidFill>
                  <a:schemeClr val="dk1"/>
                </a:solidFill>
                <a:latin typeface="Oswald"/>
                <a:ea typeface="Oswald"/>
                <a:cs typeface="Oswald"/>
                <a:sym typeface="Oswald"/>
              </a:rPr>
              <a:t> Additional datasets and hazard models.</a:t>
            </a:r>
            <a:endParaRPr sz="3200">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t/>
            </a:r>
            <a:endParaRPr sz="3200">
              <a:solidFill>
                <a:schemeClr val="dk1"/>
              </a:solidFill>
              <a:latin typeface="Oswald"/>
              <a:ea typeface="Oswald"/>
              <a:cs typeface="Oswald"/>
              <a:sym typeface="Oswald"/>
            </a:endParaRPr>
          </a:p>
          <a:p>
            <a:pPr indent="0" lvl="0" marL="0" rtl="0" algn="l">
              <a:lnSpc>
                <a:spcPct val="100000"/>
              </a:lnSpc>
              <a:spcBef>
                <a:spcPts val="360"/>
              </a:spcBef>
              <a:spcAft>
                <a:spcPts val="0"/>
              </a:spcAft>
              <a:buNone/>
            </a:pPr>
            <a:r>
              <a:t/>
            </a:r>
            <a:endParaRPr sz="3200">
              <a:solidFill>
                <a:schemeClr val="dk1"/>
              </a:solidFill>
              <a:latin typeface="Oswald"/>
              <a:ea typeface="Oswald"/>
              <a:cs typeface="Oswald"/>
              <a:sym typeface="Oswald"/>
            </a:endParaRPr>
          </a:p>
          <a:p>
            <a:pPr indent="0" lvl="0" marL="0" rtl="0" algn="l">
              <a:spcBef>
                <a:spcPts val="0"/>
              </a:spcBef>
              <a:spcAft>
                <a:spcPts val="1200"/>
              </a:spcAft>
              <a:buNone/>
            </a:pPr>
            <a:r>
              <a:t/>
            </a:r>
            <a:endParaRPr>
              <a:solidFill>
                <a:srgbClr val="38BDF8"/>
              </a:solidFill>
              <a:latin typeface="Oswald"/>
              <a:ea typeface="Oswald"/>
              <a:cs typeface="Oswald"/>
              <a:sym typeface="Oswald"/>
            </a:endParaRPr>
          </a:p>
        </p:txBody>
      </p:sp>
      <p:sp>
        <p:nvSpPr>
          <p:cNvPr id="136" name="Google Shape;136;p2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F20"/>
        </a:solidFill>
      </p:bgPr>
    </p:bg>
    <p:spTree>
      <p:nvGrpSpPr>
        <p:cNvPr id="140" name="Shape 140"/>
        <p:cNvGrpSpPr/>
        <p:nvPr/>
      </p:nvGrpSpPr>
      <p:grpSpPr>
        <a:xfrm>
          <a:off x="0" y="0"/>
          <a:ext cx="0" cy="0"/>
          <a:chOff x="0" y="0"/>
          <a:chExt cx="0" cy="0"/>
        </a:xfrm>
      </p:grpSpPr>
      <p:sp>
        <p:nvSpPr>
          <p:cNvPr id="141" name="Google Shape;14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t>
            </a:r>
            <a:endParaRPr/>
          </a:p>
          <a:p>
            <a:pPr indent="0" lvl="0" marL="0" rtl="0" algn="l">
              <a:spcBef>
                <a:spcPts val="0"/>
              </a:spcBef>
              <a:spcAft>
                <a:spcPts val="0"/>
              </a:spcAft>
              <a:buNone/>
            </a:pPr>
            <a:r>
              <a:t/>
            </a:r>
            <a:endParaRPr/>
          </a:p>
        </p:txBody>
      </p:sp>
      <p:sp>
        <p:nvSpPr>
          <p:cNvPr id="142" name="Google Shape;142;p21"/>
          <p:cNvSpPr txBox="1"/>
          <p:nvPr>
            <p:ph idx="1" type="body"/>
          </p:nvPr>
        </p:nvSpPr>
        <p:spPr>
          <a:xfrm>
            <a:off x="311700" y="1152475"/>
            <a:ext cx="8520600" cy="1571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solidFill>
                  <a:srgbClr val="38BDF8"/>
                </a:solidFill>
                <a:latin typeface="Oswald"/>
                <a:ea typeface="Oswald"/>
                <a:cs typeface="Oswald"/>
                <a:sym typeface="Oswald"/>
              </a:rPr>
              <a:t>▸</a:t>
            </a:r>
            <a:r>
              <a:rPr lang="en"/>
              <a:t>Our group successfully </a:t>
            </a:r>
            <a:r>
              <a:rPr lang="en"/>
              <a:t>developed</a:t>
            </a:r>
            <a:r>
              <a:rPr lang="en"/>
              <a:t> GAD a full-stack environmental risk </a:t>
            </a:r>
            <a:r>
              <a:rPr lang="en"/>
              <a:t>analysis</a:t>
            </a:r>
            <a:r>
              <a:rPr lang="en"/>
              <a:t> platform. Integrating real-world API’s, database system, backend services, and frontend visualization. </a:t>
            </a:r>
            <a:r>
              <a:rPr lang="en"/>
              <a:t>Essentially establishing a strong foundation for future expansion into advanced simulation and infrastructure planning system.</a:t>
            </a:r>
            <a:endParaRPr/>
          </a:p>
          <a:p>
            <a:pPr indent="0" lvl="0" marL="0" rtl="0" algn="l">
              <a:spcBef>
                <a:spcPts val="1200"/>
              </a:spcBef>
              <a:spcAft>
                <a:spcPts val="1200"/>
              </a:spcAft>
              <a:buNone/>
            </a:pPr>
            <a:r>
              <a:t/>
            </a:r>
            <a:endParaRPr/>
          </a:p>
        </p:txBody>
      </p:sp>
      <p:sp>
        <p:nvSpPr>
          <p:cNvPr id="143" name="Google Shape;143;p2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4" name="Google Shape;144;p21"/>
          <p:cNvSpPr txBox="1"/>
          <p:nvPr/>
        </p:nvSpPr>
        <p:spPr>
          <a:xfrm>
            <a:off x="311700" y="2724175"/>
            <a:ext cx="817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3"/>
                </a:solidFill>
                <a:latin typeface="Average"/>
                <a:ea typeface="Average"/>
                <a:cs typeface="Average"/>
                <a:sym typeface="Average"/>
              </a:rPr>
              <a:t>Questions?</a:t>
            </a:r>
            <a:endParaRPr sz="1800">
              <a:solidFill>
                <a:schemeClr val="accent3"/>
              </a:solidFill>
              <a:latin typeface="Average"/>
              <a:ea typeface="Average"/>
              <a:cs typeface="Average"/>
              <a:sym typeface="Averag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